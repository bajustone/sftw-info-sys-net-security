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Inter SemiBold"/>
      <p:regular r:id="rId15"/>
      <p:bold r:id="rId16"/>
      <p:italic r:id="rId17"/>
      <p:boldItalic r:id="rId18"/>
    </p:embeddedFont>
    <p:embeddedFont>
      <p:font typeface="Poppins"/>
      <p:regular r:id="rId19"/>
      <p:bold r:id="rId20"/>
      <p:italic r:id="rId21"/>
      <p:boldItalic r:id="rId22"/>
    </p:embeddedFont>
    <p:embeddedFont>
      <p:font typeface="Inter"/>
      <p:regular r:id="rId23"/>
      <p:bold r:id="rId24"/>
      <p:italic r:id="rId25"/>
      <p:boldItalic r:id="rId26"/>
    </p:embeddedFont>
    <p:embeddedFont>
      <p:font typeface="Poppins SemiBold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Inter-bold.fntdata"/><Relationship Id="rId23" Type="http://schemas.openxmlformats.org/officeDocument/2006/relationships/font" Target="fonts/Inter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boldItalic.fntdata"/><Relationship Id="rId25" Type="http://schemas.openxmlformats.org/officeDocument/2006/relationships/font" Target="fonts/Inter-italic.fntdata"/><Relationship Id="rId28" Type="http://schemas.openxmlformats.org/officeDocument/2006/relationships/font" Target="fonts/PoppinsSemiBold-bold.fntdata"/><Relationship Id="rId27" Type="http://schemas.openxmlformats.org/officeDocument/2006/relationships/font" Target="fonts/Poppins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SemiBol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PoppinsSemiBold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InterSemiBold-regular.fntdata"/><Relationship Id="rId14" Type="http://schemas.openxmlformats.org/officeDocument/2006/relationships/slide" Target="slides/slide9.xml"/><Relationship Id="rId17" Type="http://schemas.openxmlformats.org/officeDocument/2006/relationships/font" Target="fonts/InterSemiBold-italic.fntdata"/><Relationship Id="rId16" Type="http://schemas.openxmlformats.org/officeDocument/2006/relationships/font" Target="fonts/InterSemiBold-bold.fntdata"/><Relationship Id="rId19" Type="http://schemas.openxmlformats.org/officeDocument/2006/relationships/font" Target="fonts/Poppins-regular.fntdata"/><Relationship Id="rId18" Type="http://schemas.openxmlformats.org/officeDocument/2006/relationships/font" Target="fonts/InterSemi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3.png"/><Relationship Id="rId9" Type="http://schemas.openxmlformats.org/officeDocument/2006/relationships/image" Target="../media/image9.png"/><Relationship Id="rId5" Type="http://schemas.openxmlformats.org/officeDocument/2006/relationships/image" Target="../media/image12.png"/><Relationship Id="rId6" Type="http://schemas.openxmlformats.org/officeDocument/2006/relationships/image" Target="../media/image3.png"/><Relationship Id="rId7" Type="http://schemas.openxmlformats.org/officeDocument/2006/relationships/image" Target="../media/image1.png"/><Relationship Id="rId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18.png"/><Relationship Id="rId6" Type="http://schemas.openxmlformats.org/officeDocument/2006/relationships/image" Target="../media/image25.png"/><Relationship Id="rId7" Type="http://schemas.openxmlformats.org/officeDocument/2006/relationships/image" Target="../media/image6.png"/><Relationship Id="rId8" Type="http://schemas.openxmlformats.org/officeDocument/2006/relationships/image" Target="../media/image2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11" Type="http://schemas.openxmlformats.org/officeDocument/2006/relationships/image" Target="../media/image17.png"/><Relationship Id="rId10" Type="http://schemas.openxmlformats.org/officeDocument/2006/relationships/image" Target="../media/image16.png"/><Relationship Id="rId12" Type="http://schemas.openxmlformats.org/officeDocument/2006/relationships/image" Target="../media/image21.png"/><Relationship Id="rId9" Type="http://schemas.openxmlformats.org/officeDocument/2006/relationships/image" Target="../media/image30.png"/><Relationship Id="rId5" Type="http://schemas.openxmlformats.org/officeDocument/2006/relationships/image" Target="../media/image14.png"/><Relationship Id="rId6" Type="http://schemas.openxmlformats.org/officeDocument/2006/relationships/image" Target="../media/image8.png"/><Relationship Id="rId7" Type="http://schemas.openxmlformats.org/officeDocument/2006/relationships/image" Target="../media/image20.png"/><Relationship Id="rId8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9" Type="http://schemas.openxmlformats.org/officeDocument/2006/relationships/image" Target="../media/image36.png"/><Relationship Id="rId5" Type="http://schemas.openxmlformats.org/officeDocument/2006/relationships/image" Target="../media/image34.png"/><Relationship Id="rId6" Type="http://schemas.openxmlformats.org/officeDocument/2006/relationships/image" Target="../media/image28.png"/><Relationship Id="rId7" Type="http://schemas.openxmlformats.org/officeDocument/2006/relationships/image" Target="../media/image19.png"/><Relationship Id="rId8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33.png"/><Relationship Id="rId9" Type="http://schemas.openxmlformats.org/officeDocument/2006/relationships/image" Target="../media/image35.png"/><Relationship Id="rId5" Type="http://schemas.openxmlformats.org/officeDocument/2006/relationships/image" Target="../media/image24.png"/><Relationship Id="rId6" Type="http://schemas.openxmlformats.org/officeDocument/2006/relationships/image" Target="../media/image27.png"/><Relationship Id="rId7" Type="http://schemas.openxmlformats.org/officeDocument/2006/relationships/image" Target="../media/image32.png"/><Relationship Id="rId8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95300" y="2058292"/>
            <a:ext cx="1120140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 Study on </a:t>
            </a:r>
            <a:r>
              <a:rPr b="1" i="0" lang="en-US" sz="48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Signcryption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3191767"/>
            <a:ext cx="10668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Theoretical Advances and Practical Deployment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4189958"/>
            <a:ext cx="106680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BAHATI Justin | MSE Information and Network Security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March 29, 2026</a:t>
            </a:r>
            <a:endParaRPr b="0" i="0" sz="1500" u="none" cap="none" strike="noStrik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AHISHAKIYE Muhumure 202540452</a:t>
            </a:r>
            <a:endParaRPr sz="15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05025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114550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1047750" y="1571625"/>
            <a:ext cx="48101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Traditional Approach: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Uses separate signature and encryption operations sequentially (Sign-then-Encrypt).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047750" y="2790825"/>
            <a:ext cx="48101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High Computational Cost: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For 1536-bit moduli, this demands six computationally expensive modular exponentiations.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047750" y="4010025"/>
            <a:ext cx="48101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Communication Overhead: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Output includes ciphertext plus an appended signature, creating massive payload overhead.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047750" y="5229225"/>
            <a:ext cx="48101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Security Flaws: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 naive "encrypt-then-sign" approach is highly vulnerable to surreptitious forwarding attacks.</a:t>
            </a:r>
            <a:endParaRPr/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600200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8194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0386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25780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EA5E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Problem with StE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571500" y="571500"/>
            <a:ext cx="52006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EA5E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Intro to Signcryption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571500" y="1427619"/>
            <a:ext cx="520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A Unified Primitive</a:t>
            </a:r>
            <a:endParaRPr sz="1800"/>
          </a:p>
        </p:txBody>
      </p:sp>
      <p:sp>
        <p:nvSpPr>
          <p:cNvPr id="111" name="Google Shape;111;p15"/>
          <p:cNvSpPr txBox="1"/>
          <p:nvPr/>
        </p:nvSpPr>
        <p:spPr>
          <a:xfrm>
            <a:off x="571500" y="1963373"/>
            <a:ext cx="95676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public-key cryptographic primitive providing message confidentiality and sender authentication simultaneously in a single logical step.</a:t>
            </a:r>
            <a:endParaRPr sz="1800"/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3509137"/>
            <a:ext cx="520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Core Advantages</a:t>
            </a:r>
            <a:endParaRPr sz="1800"/>
          </a:p>
        </p:txBody>
      </p:sp>
      <p:sp>
        <p:nvSpPr>
          <p:cNvPr id="113" name="Google Shape;113;p15"/>
          <p:cNvSpPr txBox="1"/>
          <p:nvPr/>
        </p:nvSpPr>
        <p:spPr>
          <a:xfrm>
            <a:off x="571500" y="4218395"/>
            <a:ext cx="8942400" cy="16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Signcryption reuses key exchange components to achieve roughly 50% computational savings (only 3 modular exponentiations). It reduces overall communication bandwidth overhead by up to 85%, making it ideal for constrained hardware.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71625"/>
            <a:ext cx="5286375" cy="4714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571625"/>
            <a:ext cx="5286375" cy="471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962025" y="1962150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Signcryption Process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962025" y="2552700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Sender (Alice)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initiates the process using her private key and Bob's public key to derive a shared encryption and MAC key.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962025" y="3657600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algorithm efficiently outputs a combined ciphertext and signature components: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6724650" y="1962150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Unsigncryption Process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6724650" y="2552700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Receiver (Bob)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receives the combined output over an insecure channel and applies his own private key along with Alice's public key.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6724650" y="3657600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This single operation allows Bob to verify the mathematical signature components while simultaneously decrypting the message payload.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EA5E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Architecture &amp; Data Flow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1047750" y="1643062"/>
            <a:ext cx="10572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Confidentiality (IND-CCA2):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Ensures only the intended recipient can read the message, maintaining secrecy even under chosen ciphertext attacks.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1047750" y="2557462"/>
            <a:ext cx="10572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Authentication (EUF-CMA):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Cryptographically verifies the sender's identity using their private key, preventing malicious forgery.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1047750" y="3471862"/>
            <a:ext cx="10572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Integrity: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Strict cryptographic binding ensures that any modification to the ciphertext causes unsigncryption verification to fail immediately.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1047750" y="4386262"/>
            <a:ext cx="10572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Non-repudiation: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 third-party judge can independently verify message authorship without requiring the receiver's private key.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1047750" y="5300662"/>
            <a:ext cx="10572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Forward Secrecy: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Advanced IBC schemes protect past communications even if long-term identity keys are later compromised.</a:t>
            </a:r>
            <a:endParaRPr/>
          </a:p>
        </p:txBody>
      </p:sp>
      <p:pic>
        <p:nvPicPr>
          <p:cNvPr descr="image.png" id="138" name="Google Shape;13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7163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58603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004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4148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32923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EA5E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Comprehensive Security Properties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/>
          <p:nvPr/>
        </p:nvSpPr>
        <p:spPr>
          <a:xfrm>
            <a:off x="571500" y="3910012"/>
            <a:ext cx="11049000" cy="381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507968" y="4214812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1997 - Zheng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571500" y="4662487"/>
            <a:ext cx="254124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foundational scheme based on DLP; provided massive efficiency gains but lacked formal proofs.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3343888" y="1976437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2002 - Formal Proofs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3407419" y="2424112"/>
            <a:ext cx="254124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Baek, Steinfeld &amp; Zheng provided the first rigorous security proofs (IND-CCA2, EUF-CMA) in the ROM.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6179808" y="4214812"/>
            <a:ext cx="2668302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2003 - Identity-Based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6243339" y="4995862"/>
            <a:ext cx="254124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Boyen transitioned to IBC using Bilinear Pairings, eliminating certificate infrastructure and adding forward secrecy.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9015728" y="1643062"/>
            <a:ext cx="2668302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2011 - Standardization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9079259" y="2424112"/>
            <a:ext cx="254124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Formal ISO/IEC 29150 standardization, marking its maturity for industrial and government deployment.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EA5E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Evolution of Signcryption</a:t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1727820" y="381476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4563740" y="381476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7399659" y="381476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10235579" y="381476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71650"/>
            <a:ext cx="3492549" cy="431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771650"/>
            <a:ext cx="3492549" cy="431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771650"/>
            <a:ext cx="3492549" cy="431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9625" y="2009775"/>
            <a:ext cx="301629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87924" y="2009775"/>
            <a:ext cx="301629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66224" y="2009775"/>
            <a:ext cx="3016299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809625" y="4143375"/>
            <a:ext cx="3167114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Internet of Things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809625" y="4629150"/>
            <a:ext cx="30162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Critical for medical wearables and sensors operating under severe battery and memory constraints.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4587924" y="4143375"/>
            <a:ext cx="3167114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Secure Email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4587924" y="4629150"/>
            <a:ext cx="30162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Identity-based signcryption utilizes email addresses directly as public keys, simplifying legacy PKI overhead.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8366224" y="4143375"/>
            <a:ext cx="3167114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Blockchain &amp; Crypto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8366224" y="4629150"/>
            <a:ext cx="30162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Significantly improves transaction throughput by drastically reducing the overall cost of network cryptography.</a:t>
            </a:r>
            <a:endParaRPr/>
          </a:p>
        </p:txBody>
      </p:sp>
      <p:pic>
        <p:nvPicPr>
          <p:cNvPr descr="image.png" id="180" name="Google Shape;180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09625" y="2009775"/>
            <a:ext cx="301629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587924" y="2009775"/>
            <a:ext cx="301629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366224" y="2009775"/>
            <a:ext cx="3016299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EA5E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Real-World Applications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85962"/>
            <a:ext cx="3492549" cy="388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985962"/>
            <a:ext cx="3492549" cy="388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985962"/>
            <a:ext cx="3492549" cy="38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1002536" y="3167062"/>
            <a:ext cx="263032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Post-Quantum Flaws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866775" y="3652837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Classical schemes rely heavily on DLP or pairings, rendering them highly vulnerable to Shor's algorithm on quantum computers.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4955857" y="3167062"/>
            <a:ext cx="228028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Theoretical Proofs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4645074" y="3652837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Most proven classical schemes rely entirely on the Random Oracle Model (ROM), which does not perfectly translate to real-world security.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8764160" y="3167062"/>
            <a:ext cx="222027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Ecosystem Inertia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8423374" y="3652837"/>
            <a:ext cx="2901999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Dedicated hardware accelerators (like AES-NI) have largely erased signcryption's theoretical efficiency advantages on modern platforms.</a:t>
            </a:r>
            <a:endParaRPr/>
          </a:p>
        </p:txBody>
      </p:sp>
      <p:pic>
        <p:nvPicPr>
          <p:cNvPr descr="image.png" id="198" name="Google Shape;198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89100" y="242411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38825" y="2424112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45699" y="242411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EA5E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Evaluation &amp; Limitations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/>
          <p:nvPr/>
        </p:nvSpPr>
        <p:spPr>
          <a:xfrm>
            <a:off x="571500" y="1571625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571500" y="2554485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571500" y="3339256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571500" y="4124027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571500" y="5106888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571500" y="254496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571500" y="254496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571500" y="332973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571500" y="332973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571500" y="411450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571500" y="411450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571500" y="509736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571500" y="509736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571500" y="608022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571500" y="608022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2" name="Google Shape;22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2016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1"/>
          <p:cNvSpPr txBox="1"/>
          <p:nvPr/>
        </p:nvSpPr>
        <p:spPr>
          <a:xfrm>
            <a:off x="1666875" y="1714500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https://static.vecteezy.com/system/resources/thumbnails/055/371/419/small/digital-lock-surrounded-by-binary-code-and-glowing-chains-symbolizing-cybersecurity-and-protection-photo.jpg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1666875" y="215830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pic>
        <p:nvPicPr>
          <p:cNvPr descr="image.png" id="225" name="Google Shape;22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70390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/>
          <p:cNvSpPr txBox="1"/>
          <p:nvPr/>
        </p:nvSpPr>
        <p:spPr>
          <a:xfrm>
            <a:off x="1666875" y="269736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https://www.forvismazars.us/getmedia/11e0d5b6-78ed-4ef7-8b0d-405590b7561b/1382834268-landscape-large.jpg?width=1920&amp;height=1080&amp;ext=.jpg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1666875" y="294307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www.forvismazars.us</a:t>
            </a:r>
            <a:endParaRPr/>
          </a:p>
        </p:txBody>
      </p:sp>
      <p:pic>
        <p:nvPicPr>
          <p:cNvPr descr="image.png" id="228" name="Google Shape;228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8868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1"/>
          <p:cNvSpPr txBox="1"/>
          <p:nvPr/>
        </p:nvSpPr>
        <p:spPr>
          <a:xfrm>
            <a:off x="1666875" y="3482131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https://static.vecteezy.com/system/resources/thumbnails/078/214/650/small_2x/close-up-macro-shot-of-microchip-on-circuit-board-photo.jpeg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1666875" y="372784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pic>
        <p:nvPicPr>
          <p:cNvPr descr="image.png" id="231" name="Google Shape;231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37257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1"/>
          <p:cNvSpPr txBox="1"/>
          <p:nvPr/>
        </p:nvSpPr>
        <p:spPr>
          <a:xfrm>
            <a:off x="1666875" y="4266902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https://static.vecteezy.com/system/resources/previews/038/002/012/large_2x/ai-generated-abstract-blue-and-red-glowing-email-symbol-on-digital-background-e-mail-concept-photo.jpg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1666875" y="471070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pic>
        <p:nvPicPr>
          <p:cNvPr descr="image.png" id="234" name="Google Shape;234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35543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1"/>
          <p:cNvSpPr txBox="1"/>
          <p:nvPr/>
        </p:nvSpPr>
        <p:spPr>
          <a:xfrm>
            <a:off x="1666875" y="5249763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https://png.pngtree.com/thumb_back/fw800/background/20251112/pngtree-a-3d-rendering-of-decentralized-network-showcasing-interconnected-glowing-blue-nodes-image_20304420.webp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1666875" y="569356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pngtree.com</a:t>
            </a:r>
            <a:endParaRPr/>
          </a:p>
        </p:txBody>
      </p:sp>
      <p:pic>
        <p:nvPicPr>
          <p:cNvPr descr="image.png" id="237" name="Google Shape;237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623917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1"/>
          <p:cNvSpPr txBox="1"/>
          <p:nvPr/>
        </p:nvSpPr>
        <p:spPr>
          <a:xfrm>
            <a:off x="1666875" y="6232624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https://media.craiyon.com/2025-07-09/hohyhfJgRMWzN80YRZfjcg.webp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1666875" y="647833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www.craiyon.com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EA5E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