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"Good morning/afternoon. I'm BAHATI Justin. This is my review paper on signcryption for MSE 9123."
HOOK (memorize): Signcryption is a 29-year-old primitive — Zheng, CRYPTO 1997 — that was formally standardized by ISO/IEC 29150 in 2011, yet as of 2026 no mainstream cryptographic library ships a conforming implementation. That gap between theory and practice is the question this paper answers.
ROADMAP — three parts:
  1. What signcryption is and the cryptographic insight behind it (slides 2-5)
  2. How the theory matured — formal security, identity-based variants, standardization (6-10)
  3. Why it didn't get deployed, and what the research community needs to do next (11-13)
THESIS (say clearly): The deployment failure is fundamentally a security-model communication failure, not a technical one.
Keep this slide to ~30 seconds. Don't read the subtitle.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Any secure-messaging scheme has to deliver three cryptographic goals — confidentiality (only the recipient reads it), authenticity (the recipient is sure who sent it), and non-repudiation (the sender cannot later deny it).
KEY POINT: These three are INDEPENDENT. A scheme can satisfy one without the others. Plain encryption = confidentiality only. Plain digital signature = authenticity + non-repudiation, no confidentiality. MAC = authenticity in the symmetric setting, but NOT non-repudiation because both parties share the key.
HISTORICAL DEFAULT: Sign-then-Encrypt (StE). Apply a signature algorithm first, then encrypt message + signature. Dates back to early PKI — RSA + DES. Achieves all three goals by COMPOSING two separate primitives.
Alternatives exist — Encrypt-then-Sign (EtS), Encrypt-and-Sign (E&amp;S) — but each has problems. We'll see on slide 7 that EtS is broken in the asymmetric setting.
TRANSITION: "But composition has a cost. Let's quantify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(have these ready):
  • 6 modular exponentiations = Schnorr signature (1 sign + 2 verify = 3) + ElGamal encryption (2 encrypt + 1 decrypt = 3). Assumes 1536-bit primes — the DLP key length recommended in the 1990s/early 2000s for ~80-bit security.
  • &gt;50% communication overhead — ElGamal ciphertexts are 2× plaintext size, plus a Schnorr signature (~320 bits at this security level). For short messages the overhead ratio is far worse.
THE QUOTE: Zheng's 1997 CRYPTO paper is literally titled "Digital Signcryption or How to Achieve Cost(Signature &amp; Encryption) &lt;&lt; Cost(Signature) + Cost(Encryption)." The title was the conjecture. He proved his own conjecture in the paper.
FRAME: The point isn't that StE is insecure — it's secure. The point is the cost is not theoretically necessary. If you can share work between the signature and the encryption, you can pay less than the sum. That shared-work insight is signcryption.
TRANSITION: "Zheng's answer was a single primitive that does both jobs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StE requires two sequential algorithmic phases — sign the message, then encrypt the result. Signcryption is ONE atomic operation that produces a single ciphertext carrying both confidentiality and authenticity.
CONCRETE SAVINGS (Zheng 1997):
  • ~50% computational: 6 exponentiations → 3 exponentiations
  • ~85% communication: this is Zheng's specific claim at 1536-bit parameters. The ratio depends on parameter choice and message length — it's the upper end, not a universal number.
WHAT WE LOSE — say this explicitly: modularity. In StE you can swap the signature scheme (Schnorr → ECDSA) without touching the encryption. Signcryption COUPLES them, so algorithm agility suffers. This becomes one of the five non-adoption reasons on slide 11.
EXPECT QUESTION: "Is signcryption just an optimization?" No — we'll see on slide 7 that it also provides qualitatively different security (prevents surreptitious forwarding). So it's cheaper AND structurally different.
TRANSITION: "To see how this works, we need to look inside Zheng's 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TERMINOLOGY: SDSS stands for Shortened Digital Signature Scheme — Zheng's custom signature form, not Schnorr or ElGamal. There is also SDSS2, a minor variant that changes how r is computed. ISO/IEC 29150 standardizes both.
WALK THROUGH SIGNCRYPT:
  1. Alice picks fresh random x (one-time ephemeral).
  2. Computes k = y_B^x mod p — this is an ephemeral Diffie-Hellman between Alice's x and Bob's long-term public key.
  3. H(k) → (k1, k2): two symmetric keys — k1 for the cipher, k2 for the MAC.
  4. Encrypts: c = E_{k1}(m). Tags: r = KH_{k2}(m).
  5. Signature element: s = x / (r + x_A) mod q.
WALK THROUGH UNSIGNCRYPT (this is the beautiful part):
Bob computes (y_A · g^r)^{s·x_B}.
  • y_A · g^r = g^{x_A + r}
  • Raise to s·x_B: g^{s(x_A + r)·x_B}
  • Substitute s = x/(x_A + r): the (x_A + r) cancels
  • Result: g^{x·x_B} = (g^{x_B})^x = y_B^x — EXACTLY the k Alice computed.
KEY INSIGHT (the whole slide): y_B^x does DOUBLE DUTY — it derives the symmetric key AND binds the signature to this specific sender-receiver pair. One exponentiation, two cryptographic jobs.
LIKELY QUESTION: "Why does verification work without x?" Because s was CONSTRUCTED so that (x_A + r)·s ≡ x mod q — the exponent collapses. This is a 1-sentence answer; have it ready.
LIKELY QUESTION: "What if two different messages produce the same r?" r depends on both m and k2, and k2 is fresh per message via random x, so collisions are negligible.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MILESTONES:
  • 1997 Zheng: informal security argument, no game-based proof.
  • 2002 Baek–Steinfeld–Zheng: first complete proof. Establishes IND-CCA2 (gold standard for encryption — indistinguishability under adaptive chosen-ciphertext attack) and EUF-CMA (existential unforgeability under chosen-message attack). All in the ROM.
  • 2018 Badertscher–Banfi–Maurer: constructive-cryptography framework gives the "canonical" insider-security notion — the cleanest definition of what signcryption is supposed to achieve.
21 years between informal argument and canonical definition.
ALSO IMPORTANT (name-drop): An–Dodis–Rabin (Eurocrypt 2002) — formalized signcryption as a primitive, introduced gCCA2 (generalized CCA2) for the signcryption-specific setting, and proved the composition results we reference on slide 7.
WHAT ROM MEANS: The Random Oracle Model treats the hash function H as a truly random function the adversary can query but cannot compute directly. It's a standard proof technique — but it's an IDEALIZATION. Canetti–Goldreich–Halevi 1998 showed schemes exist that are ROM-secure but insecure under any real hash. So ROM proofs are "good evidence" but not ironclad.
STANDARD MODEL = no ROM, reductions go to well-studied mathematical assumptions only.
LIKELY QUESTION: "Is ROM acceptable?" — accepted in practice, yes; but every standard-model replacement is a research contribution. Sato–Shikata 2018 on slide 10 is the only standard-model signcryption we'll discuss.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IMMEDIATELY: EtS = Encrypt-then-Sign. This is NOT signcryption. It is a naive composition where you encrypt m to c, then sign c with σ_A.
THE ATTACK (walk through the diagram):
  • Alice sends (c, σ_A) to Bob.
  • Eve intercepts. Signatures are public, so she strips σ_A, re-signs c with her own key, producing σ_E.
  • Bob receives (c, σ_E). Decrypts c (it was encrypted for him, so he can). Verifies σ_E — it checks out, because Eve signed it legitimately with her key.
  • Bob concludes: Eve sent me m.
NAME OF THE ATTACK: "Surreptitious forwarding" — formally analyzed by An–Dodis–Rabin, Eurocrypt 2002.
WHY IT WORKS: the signature in EtS is over the CIPHERTEXT, not the plaintext. The ciphertext is bound to Bob (not to Alice), so anyone can claim authorship.
FIXES:
  • Include recipient identity in the signed payload.
  • Use signcryption — which binds the signature to BOTH the sender AND the specific receiver via the shared y_B^x.
THE COUNTERINTUITIVE BIT (be ready for this question): In the SYMMETRIC setting, EtS is actually the PREFERRED composition (Bellare–Namprempre 2000 — same authors showed it). The asymmetry only shows up in the asymmetric setting.
CLOSE: Signcryption isn't just StE optimized — it provides qualitatively different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(set up the slide): Boneh–Franklin introduced Identity-Based Encryption (IBE) in 2001 using bilinear pairings — your email address can be your public key. Natural extension: Identity-Based Signcryption (IBSC).
TERMINOLOGY:
  • IBSC / IBSE — Identity-Based Signcryption / Encryption.
  • BDH = Bilinear Diffie–Hellman — the hardness assumption pairing-based schemes rely on.
  • KGC = Key Generation Center — the trusted party that issues private keys from IDs. The key-escrow problem: KGC knows everyone's secret key.
THE THREE-BEAT PATTERN:
  1. Malone-Lee 2002: first IBSC scheme, based on BDH.
  2. Libert &amp; Quisquater 2003: semantic-security flaw — the signature element is exposed in the ciphertext, giving the IND-CCA adversary a free distinguisher. The scheme achieves authenticity but NOT confidentiality under CCA.
  3. Boyen 2003: fixes Malone-Lee with IBSE. Also adds ANONYMITY (ciphertext hides sender), UNLINKABILITY (can't correlate two ciphertexts to same sender), and FORWARD SECRECY (compromise today doesn't break yesterday's messages).
All within 18 months. Propose → break → repair.
MORAL (this is the whole slide's argument): Ad-hoc integration of signature and encryption is SUBTLE. Flaws surface only under formal security definitions — not during informal review. This is a recurring pattern in combined primitives.
LIKELY QUESTION: "Is IBSC used today?" Limited — mostly academic and some embedded/military. The key-escrow problem blocks mainstream adoption. Certificateless variants (Al-Riyami–Paterson 2003) address escrow; pairing-free variants improve efficiency.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PUBLICATION FACTS:
  • ISO/IEC 29150 — published 2011, revised 2013.
  • Issued by ISO/IEC JTC 1 / SC 27 — the subcommittee for IT security techniques.
  • Title: "Information technology — Security techniques — Signcryption."
STRUCTURE (two axes):
  • Family 1 — DLP-based: Zheng's SDSS1 and SDSS2 over finite fields Z_p.
  • Family 2 — EC-based: Zheng–Imai (1998) over elliptic curves. More efficient at equivalent security levels.
  • Each family has two modes: key transport (fresh symmetric session key generated and transmitted inside the ciphertext) vs key agreement (both parties derive the symmetric key from a shared Diffie–Hellman computation — like Zheng's original SDSS1).
THE CRITICAL GAP (this is the whole point of the slide):
  • AES was NIST-backed, came with reference code, became a FIPS, was mandated for US government use.
  • SHA-3 was chosen through an open NIST competition with public scrutiny and multiple implementations.
  • ISO/IEC 29150 shipped with NO reference implementation, NO RFC, NO open-source push, NO industry champion.
  • As of 2026: no OpenSSL, no BoringSSL, no LibreSSL, no Botan, no BouncyCastle conforming implementation. Essentially a "ghost standard."
LIKELY QUESTION: "Why would ISO standardize something nobody uses?" Standards bodies formalize what's theoretically sound. Adoption is a separate process involving reference implementations, RFCs, and industry buy-in. Signcryption never had any of those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TABLE SHOWS: 8 schemes spanning 21 years, across 4 design dimensions — setting (PKI vs ID-based), hardness assumption, proof model, efficiency vs StE.
DOMINANT PATTERN: every pre-2018 scheme is proved in the ROM. That's not incidental — it reflects a methodological dependency that the community is still working to escape.
THE OUTLIER — SATO–SHIKATA 2018 (know these details):
  • First standard-model signcryption. No ROM.
  • Built on LATTICE assumptions: LWE (Learning With Errors) and SIS (Short Integer Solution).
  • Post-quantum secure — LWE is conjectured to resist Shor's algorithm.
  • Trade-off: ciphertexts are large (characteristic of lattice schemes) — not yet practical for bandwidth-constrained applications.
  • "Under study" in the efficiency column because the fair comparison would be against post-quantum StE (Dilithium + Kyber), and those numbers are still moving as NIST finalizes its PQ standards.
NOTES ON OTHER ROWS:
  • Zheng 1997: the original. 50% compute, 85% bandwidth savings.
  • Zheng–Imai 1998: EC variant, 58%/40% at equivalent security.
  • Steinfeld–Zheng 2000: moved proof to factoring instead of DLP.
  • Baek et al. 2002: first full proof of Zheng's scheme.
  • An et al. 2002: compositional framework, introduces gCCA2.
  • Malone-Lee / Boyen: ID-based entries we discussed on slide 8.
LIKELY QUESTION: "Is this exhaustive?" No — I selected representatives across the design space. Dent's 2005 book "Practical Signcryption" (and the 2010 edited volume) has a ~40-scheme taxonomy.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SLIDE. Spend time here.
FIVE FACTORS (explain each — don't just read):
1. ECOSYSTEM INERTIA. TLS 1.3 cipher suites don't expose signcryption. Crypto libraries provide primitives (signatures, AEADs), not combined operations. Retrofitting requires RFCs, library changes, CA/certificate-format updates.
2. MODULARITY. Algorithm agility — the ability to swap signature or encryption algorithms independently — is a DESIGN PRINCIPLE in modern protocols. When SHA-1 was deprecated, you replaced the hash without touching the cipher. Signcryption couples them, so if one component breaks, you replace the whole scheme.
3. AEAD &amp; HARDWARE. AES-GCM with AES-NI (Intel CPU instruction, 2010+) and ChaCha20-Poly1305 on ARM made symmetric authenticated encryption essentially free. Combined with ECDH + ECDSA (both hardware-accelerated), the 50% computational advantage of signcryption becomes negligible on servers and phones. This is the most concrete reason.
4. SECURITY-MODEL COMPLEXITY. Signcryption has insider vs outsider security, CCA2 variants (gCCA2, IND-CCA2), anonymity, forward secrecy, key escrow considerations — each a separate definition. Implementers find this harder to reason about than separate primitives.
5. POST-QUANTUM UNCERTAINTY. Shor's algorithm breaks all classical signcryption (DLP, ECDLP, factoring, BDH). Any signcryption deployed today would need replacement during the PQ transition (NIST Dilithium + Kyber are finalized now). Rational response: wait.
THESIS — emphasize this: "the deployment failure is fundamentally a security-model communication failure — no crisp answer for 'what does this buy me beyond ECDH + ECDSA?'"
LIKELY QUESTION: "What would change this?" Answer: post-quantum lattice signcryption with practical parameters, a TLS cipher suite draft, and a reference OpenSSL patch —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ORGANIZING IDEA: adoption is a SPECTRUM ordered by resource constraint. Left = no adoption. Right = active deployment.
WALK THE BAR LEFT-TO-RIGHT:
  • TLS / HTTPS — servers have AES-NI and hardware ECDSA; bandwidth is cheap. Signcryption's efficiency advantage is invisible at this scale. No adoption.
  • Signal / S/MIME — Signal's double-ratchet uses compositional signed-encryption; S/MIME is literally StE. Both could use signcryption in principle. Neither does.
  • Edge computing — scattered academic use, a few prototypes. No production deployments.
  • VANETs (Vehicular Ad-hoc Networks — car-to-car comms). IEEE 1609.2 CONSIDERED signcryption during standardization and REJECTED it in favor of ECDSA + ECIES, explicitly citing compatibility with existing PKI. That's ecosystem inertia in action.
  • IoMT (Internet of Medical Things — implantables, wearables). Active research adoption since ~2020. Signcryption appears in schemes for secure telemetry from pacemakers, glucose monitors, etc.
  • IoT sensors — Cortex-M0 class microcontrollers, battery-operated, every byte and joule matters. Singh et al. (2023) report ~40% energy savings over ECDSA+AES. This is where signcryption is OPERATIONALLY DECISIVE.
CLOSE WITH THE CALLOUT: Adoption tracks the efficiency margin. Where AES-NI and hardware ECDSA run, signcryption is unnecessary. Where every byte and joule matters, it becomes decisive.
LIKELY QUESTION: "Is IoT adoption real or academic?" Mostly academic with industrial prototypes — no major vendor ships signcryption in production IoT yet. That's itself a research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ORGANIZING CLAIM: Research gaps are not equal — some block progress on others. Two foundational gaps must be closed before the five downstream ones can be meaningfully pursued.
FOUNDATIONAL (solve first — the callout at the bottom):
1. POST-QUANTUM SIGNCRYPTION. All classical assumptions — DLP, ECDLP, factoring, BDH — fall to Shor's algorithm on a large quantum computer. Four candidate families: LATTICE-based (Sato–Shikata 2018 is the starting point; aligned with NIST's Dilithium/Kyber), CODE-based (McEliece-style, large keys), HASH-based (stateful signatures only, tricky for signcryption), ISOGENY-based (suffered from SIDH break in 2022; CSIDH variants still open).
2. STANDARD-MODEL PROOFS. Replace ROM reductions with reductions to well-studied assumptions. Less efficient in general, but a stronger provable-security story. Sato–Shikata is the only example so far.
DOWNSTREAM (five tasks that build on the foundation):
3. LIBRARY IMPLEMENTATIONS — conforming ISO/IEC 29150 reference in OpenSSL/BoringSSL. Essential for any real-world use.
4. PROTOCOL INTEGRATION — TLS, DTLS, CoAP cipher suites. Requires RFC drafts at IETF.
5. LIGHTWEIGHT IoT BUILDS — MCU-optimized, SIDE-CHANNEL RESISTANT (timing, power, EM leakage — important because IoT devices are physically accessible to attackers).
6. KEY ESCROW (CLC = Certificateless Cryptography, Al-Riyami–Paterson 2003). Eliminates the KGC-knows-all problem in ID-based signcryption. Pairing-free variants also reduce computational cost.
7. MULTI-RECEIVER SCALE — broadcast signcryption, especially challenging with post-quantum ciphertext sizes (bigger ciphertexts × more receivers = bandwidth explosion).
LIKELY QUESTION: "Which direction is most promising?" Post-quantum lattice — it rides the wave of NIST PQ standardization and has maturing implementations (Dilithium, Kyber). A lattice-based signcryption scheme that matches their parameters would be immediately deployable.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TALK — three takeaways, each one sentence:
  01. Theoretically mature. Formal proofs (IND-CCA2, EUF-CMA, gCCA2), identity-based variants, standard-model construction, ISO standardization — the theoretical ecosystem is complete.
  02. Practically absent. Not in OpenSSL. Not in TLS. Not in Signal. AEAD + ECDH ate the efficiency advantage that motivated the primitive in 1997.
  03. Bridging the gap requires post-quantum constructions, standard-model proofs, and reference libraries. Foundational research enables downstream engineering — in that order.
ONE-LINE WRAP-UP: "The signcryption story is a case study in how theoretical maturity alone is not sufficient for deployment. It needs a crisp value proposition, reference implementations, and a protocol champion — none of which materialized."
OPEN: "Thank you. I'm happy to take questions."
ANTICIPATED QUESTIONS — PREP ANSWERS FOR THESE:
  • "How is signcryption different from AEAD?" AEAD is SYMMETRIC (shared key), signcryption is ASYMMETRIC and provides NON-REPUDIATION. Different use cases.
  • "What about COSE_Sign_then_Encrypt?" COSE (CBOR Object Signing and Encryption) is literally StE — it has the 6-exp cost by design. Not signcryption.
  • "Can signcryption be post-quantum?" Yes — Sato–Shikata 2018 is LWE-based. Active research area, parameters still need optimization.
  • "What's a realistic adoption timeline?" 5–10 years, conditional on (a) post-quantum becoming urgent, (b) a reference lattice-signcryption scheme in OpenSSL, (c) an RFC. All three together.
  • "Why review signcryption NOW?" Because the post-quantum transition is the first forcing function in 30 years that could plausibly break the ecosystem inertia. If signcryption is going to happen, it happens in the PQ wave or never.
  • "Did you find any errors or contradictions in the literature?" Be honest — flag the Libert–Quisquater / Malone-Lee dispute (slide 8) as the clearest case of formal analysis catching what informal review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457200"/>
            <a:ext cx="8229600" cy="274320"/>
          </a:xfrm>
          <a:prstGeom prst="rect">
            <a:avLst/>
          </a:prstGeom>
          <a:noFill/>
          <a:ln/>
        </p:spPr>
        <p:txBody>
          <a:bodyPr wrap="square" rtlCol="0" anchor="ctr"/>
          <a:lstStyle/>
          <a:p>
            <a:pPr indent="0" marL="0">
              <a:buNone/>
            </a:pPr>
            <a:r>
              <a:rPr lang="en-US" sz="1100" b="1" spc="400" kern="0" dirty="0">
                <a:solidFill>
                  <a:srgbClr val="CADCFC"/>
                </a:solidFill>
                <a:latin typeface="Calibri" pitchFamily="34" charset="0"/>
                <a:ea typeface="Calibri" pitchFamily="34" charset="-122"/>
                <a:cs typeface="Calibri" pitchFamily="34" charset="-120"/>
              </a:rPr>
              <a:t>MSE INFORMATION AND NETWORK SECURITY</a:t>
            </a:r>
            <a:endParaRPr lang="en-US" sz="1100" dirty="0"/>
          </a:p>
        </p:txBody>
      </p:sp>
      <p:sp>
        <p:nvSpPr>
          <p:cNvPr id="3" name="Text 1"/>
          <p:cNvSpPr/>
          <p:nvPr/>
        </p:nvSpPr>
        <p:spPr>
          <a:xfrm>
            <a:off x="457200" y="1188720"/>
            <a:ext cx="8229600" cy="868680"/>
          </a:xfrm>
          <a:prstGeom prst="rect">
            <a:avLst/>
          </a:prstGeom>
          <a:noFill/>
          <a:ln/>
        </p:spPr>
        <p:txBody>
          <a:bodyPr wrap="square"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A Review of Signcryption</a:t>
            </a:r>
            <a:endParaRPr lang="en-US" sz="4000" dirty="0"/>
          </a:p>
        </p:txBody>
      </p:sp>
      <p:sp>
        <p:nvSpPr>
          <p:cNvPr id="4" name="Text 2"/>
          <p:cNvSpPr/>
          <p:nvPr/>
        </p:nvSpPr>
        <p:spPr>
          <a:xfrm>
            <a:off x="457200" y="2103120"/>
            <a:ext cx="8229600" cy="1097280"/>
          </a:xfrm>
          <a:prstGeom prst="rect">
            <a:avLst/>
          </a:prstGeom>
          <a:noFill/>
          <a:ln/>
        </p:spPr>
        <p:txBody>
          <a:bodyPr wrap="square" rtlCol="0" anchor="ctr"/>
          <a:lstStyle/>
          <a:p>
            <a:pPr indent="0" marL="0">
              <a:buNone/>
            </a:pPr>
            <a:r>
              <a:rPr lang="en-US" sz="2000" i="1" dirty="0">
                <a:solidFill>
                  <a:srgbClr val="CADCFC"/>
                </a:solidFill>
                <a:latin typeface="Georgia" pitchFamily="34" charset="0"/>
                <a:ea typeface="Georgia" pitchFamily="34" charset="-122"/>
                <a:cs typeface="Georgia" pitchFamily="34" charset="-120"/>
              </a:rPr>
              <a:t>Theoretical Advances, Standardization,</a:t>
            </a:r>
            <a:endParaRPr lang="en-US" sz="2000" dirty="0"/>
          </a:p>
          <a:p>
            <a:pPr indent="0" marL="0">
              <a:buNone/>
            </a:pPr>
            <a:r>
              <a:rPr lang="en-US" sz="2000" i="1" dirty="0">
                <a:solidFill>
                  <a:srgbClr val="CADCFC"/>
                </a:solidFill>
                <a:latin typeface="Georgia" pitchFamily="34" charset="0"/>
                <a:ea typeface="Georgia" pitchFamily="34" charset="-122"/>
                <a:cs typeface="Georgia" pitchFamily="34" charset="-120"/>
              </a:rPr>
              <a:t>and the Gap to Practical Deployment</a:t>
            </a:r>
            <a:endParaRPr lang="en-US" sz="2000" dirty="0"/>
          </a:p>
        </p:txBody>
      </p:sp>
      <p:sp>
        <p:nvSpPr>
          <p:cNvPr id="5" name="Shape 3"/>
          <p:cNvSpPr/>
          <p:nvPr/>
        </p:nvSpPr>
        <p:spPr>
          <a:xfrm>
            <a:off x="457200" y="3474720"/>
            <a:ext cx="640080" cy="27432"/>
          </a:xfrm>
          <a:prstGeom prst="rect">
            <a:avLst/>
          </a:prstGeom>
          <a:solidFill>
            <a:srgbClr val="CADCFC"/>
          </a:solidFill>
          <a:ln/>
        </p:spPr>
      </p:sp>
      <p:sp>
        <p:nvSpPr>
          <p:cNvPr id="6" name="Text 4"/>
          <p:cNvSpPr/>
          <p:nvPr/>
        </p:nvSpPr>
        <p:spPr>
          <a:xfrm>
            <a:off x="457200" y="3611880"/>
            <a:ext cx="8229600" cy="320040"/>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BAHATI Justin  ·  202540272</a:t>
            </a:r>
            <a:endParaRPr lang="en-US" sz="1600" dirty="0"/>
          </a:p>
        </p:txBody>
      </p:sp>
      <p:sp>
        <p:nvSpPr>
          <p:cNvPr id="7" name="Text 5"/>
          <p:cNvSpPr/>
          <p:nvPr/>
        </p:nvSpPr>
        <p:spPr>
          <a:xfrm>
            <a:off x="457200" y="3977640"/>
            <a:ext cx="8229600" cy="27432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MSE 9123  ·  Dr. Egide Nkurunziza  ·  April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E2761"/>
          </a:solidFill>
          <a:ln/>
        </p:spPr>
      </p:sp>
      <p:sp>
        <p:nvSpPr>
          <p:cNvPr id="3" name="Text 1"/>
          <p:cNvSpPr/>
          <p:nvPr/>
        </p:nvSpPr>
        <p:spPr>
          <a:xfrm>
            <a:off x="274320" y="4873752"/>
            <a:ext cx="6858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 Review of Signcryption  ·  BAHATI Justin  ·  MSE 9123</a:t>
            </a:r>
            <a:endParaRPr lang="en-US" sz="900" dirty="0"/>
          </a:p>
        </p:txBody>
      </p:sp>
      <p:sp>
        <p:nvSpPr>
          <p:cNvPr id="4" name="Text 2"/>
          <p:cNvSpPr/>
          <p:nvPr/>
        </p:nvSpPr>
        <p:spPr>
          <a:xfrm>
            <a:off x="7863840" y="4873752"/>
            <a:ext cx="100584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 / 14</a:t>
            </a:r>
            <a:endParaRPr lang="en-US" sz="900" dirty="0"/>
          </a:p>
        </p:txBody>
      </p:sp>
      <p:sp>
        <p:nvSpPr>
          <p:cNvPr id="5" name="Text 3"/>
          <p:cNvSpPr/>
          <p:nvPr/>
        </p:nvSpPr>
        <p:spPr>
          <a:xfrm>
            <a:off x="320040" y="274320"/>
            <a:ext cx="8503920" cy="640080"/>
          </a:xfrm>
          <a:prstGeom prst="rect">
            <a:avLst/>
          </a:prstGeom>
          <a:noFill/>
          <a:ln/>
        </p:spPr>
        <p:txBody>
          <a:bodyPr wrap="square" lIns="0" tIns="0" rIns="0" bIns="0" rtlCol="0" anchor="ctr"/>
          <a:lstStyle/>
          <a:p>
            <a:pPr algn="l" indent="0" marL="0">
              <a:buNone/>
            </a:pPr>
            <a:r>
              <a:rPr lang="en-US" sz="2600" b="1" dirty="0">
                <a:solidFill>
                  <a:srgbClr val="1E2761"/>
                </a:solidFill>
                <a:latin typeface="Georgia" pitchFamily="34" charset="0"/>
                <a:ea typeface="Georgia" pitchFamily="34" charset="-122"/>
                <a:cs typeface="Georgia" pitchFamily="34" charset="-120"/>
              </a:rPr>
              <a:t>Secure Messaging Requires Three Things</a:t>
            </a:r>
            <a:endParaRPr lang="en-US" sz="2600" dirty="0"/>
          </a:p>
        </p:txBody>
      </p:sp>
      <p:sp>
        <p:nvSpPr>
          <p:cNvPr id="6" name="Shape 4"/>
          <p:cNvSpPr/>
          <p:nvPr/>
        </p:nvSpPr>
        <p:spPr>
          <a:xfrm>
            <a:off x="457200" y="1234440"/>
            <a:ext cx="2606040" cy="2331720"/>
          </a:xfrm>
          <a:prstGeom prst="rect">
            <a:avLst/>
          </a:prstGeom>
          <a:solidFill>
            <a:srgbClr val="F8FAFF"/>
          </a:solidFill>
          <a:ln w="12700">
            <a:solidFill>
              <a:srgbClr val="D5DEEF"/>
            </a:solidFill>
            <a:prstDash val="solid"/>
          </a:ln>
        </p:spPr>
      </p:sp>
      <p:sp>
        <p:nvSpPr>
          <p:cNvPr id="7" name="Shape 5"/>
          <p:cNvSpPr/>
          <p:nvPr/>
        </p:nvSpPr>
        <p:spPr>
          <a:xfrm>
            <a:off x="685800" y="1463040"/>
            <a:ext cx="502920" cy="502920"/>
          </a:xfrm>
          <a:prstGeom prst="ellipse">
            <a:avLst/>
          </a:prstGeom>
          <a:solidFill>
            <a:srgbClr val="1E2761"/>
          </a:solidFill>
          <a:ln/>
        </p:spPr>
      </p:sp>
      <p:sp>
        <p:nvSpPr>
          <p:cNvPr id="8" name="Text 6"/>
          <p:cNvSpPr/>
          <p:nvPr/>
        </p:nvSpPr>
        <p:spPr>
          <a:xfrm>
            <a:off x="685800" y="146304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9" name="Text 7"/>
          <p:cNvSpPr/>
          <p:nvPr/>
        </p:nvSpPr>
        <p:spPr>
          <a:xfrm>
            <a:off x="685800" y="2103120"/>
            <a:ext cx="2148840" cy="457200"/>
          </a:xfrm>
          <a:prstGeom prst="rect">
            <a:avLst/>
          </a:prstGeom>
          <a:noFill/>
          <a:ln/>
        </p:spPr>
        <p:txBody>
          <a:bodyPr wrap="square" rtlCol="0" anchor="ctr"/>
          <a:lstStyle/>
          <a:p>
            <a:pPr indent="0" marL="0">
              <a:buNone/>
            </a:pPr>
            <a:r>
              <a:rPr lang="en-US" sz="1800" b="1" dirty="0">
                <a:solidFill>
                  <a:srgbClr val="1E2761"/>
                </a:solidFill>
                <a:latin typeface="Georgia" pitchFamily="34" charset="0"/>
                <a:ea typeface="Georgia" pitchFamily="34" charset="-122"/>
                <a:cs typeface="Georgia" pitchFamily="34" charset="-120"/>
              </a:rPr>
              <a:t>Confidentiality</a:t>
            </a:r>
            <a:endParaRPr lang="en-US" sz="1800" dirty="0"/>
          </a:p>
        </p:txBody>
      </p:sp>
      <p:sp>
        <p:nvSpPr>
          <p:cNvPr id="10" name="Text 8"/>
          <p:cNvSpPr/>
          <p:nvPr/>
        </p:nvSpPr>
        <p:spPr>
          <a:xfrm>
            <a:off x="685800" y="2606040"/>
            <a:ext cx="2148840" cy="868680"/>
          </a:xfrm>
          <a:prstGeom prst="rect">
            <a:avLst/>
          </a:prstGeom>
          <a:noFill/>
          <a:ln/>
        </p:spPr>
        <p:txBody>
          <a:bodyPr wrap="square" rtlCol="0" anchor="t"/>
          <a:lstStyle/>
          <a:p>
            <a:pPr indent="0" marL="0">
              <a:buNone/>
            </a:pPr>
            <a:r>
              <a:rPr lang="en-US" sz="1300" dirty="0">
                <a:solidFill>
                  <a:srgbClr val="2F3C4F"/>
                </a:solidFill>
                <a:latin typeface="Calibri" pitchFamily="34" charset="0"/>
                <a:ea typeface="Calibri" pitchFamily="34" charset="-122"/>
                <a:cs typeface="Calibri" pitchFamily="34" charset="-120"/>
              </a:rPr>
              <a:t>Only the intended recipient can read the message.</a:t>
            </a:r>
            <a:endParaRPr lang="en-US" sz="1300" dirty="0"/>
          </a:p>
        </p:txBody>
      </p:sp>
      <p:sp>
        <p:nvSpPr>
          <p:cNvPr id="11" name="Shape 9"/>
          <p:cNvSpPr/>
          <p:nvPr/>
        </p:nvSpPr>
        <p:spPr>
          <a:xfrm>
            <a:off x="3200400" y="1234440"/>
            <a:ext cx="2606040" cy="2331720"/>
          </a:xfrm>
          <a:prstGeom prst="rect">
            <a:avLst/>
          </a:prstGeom>
          <a:solidFill>
            <a:srgbClr val="F8FAFF"/>
          </a:solidFill>
          <a:ln w="12700">
            <a:solidFill>
              <a:srgbClr val="D5DEEF"/>
            </a:solidFill>
            <a:prstDash val="solid"/>
          </a:ln>
        </p:spPr>
      </p:sp>
      <p:sp>
        <p:nvSpPr>
          <p:cNvPr id="12" name="Shape 10"/>
          <p:cNvSpPr/>
          <p:nvPr/>
        </p:nvSpPr>
        <p:spPr>
          <a:xfrm>
            <a:off x="3429000" y="1463040"/>
            <a:ext cx="502920" cy="502920"/>
          </a:xfrm>
          <a:prstGeom prst="ellipse">
            <a:avLst/>
          </a:prstGeom>
          <a:solidFill>
            <a:srgbClr val="1E2761"/>
          </a:solidFill>
          <a:ln/>
        </p:spPr>
      </p:sp>
      <p:sp>
        <p:nvSpPr>
          <p:cNvPr id="13" name="Text 11"/>
          <p:cNvSpPr/>
          <p:nvPr/>
        </p:nvSpPr>
        <p:spPr>
          <a:xfrm>
            <a:off x="3429000" y="146304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4" name="Text 12"/>
          <p:cNvSpPr/>
          <p:nvPr/>
        </p:nvSpPr>
        <p:spPr>
          <a:xfrm>
            <a:off x="3429000" y="2103120"/>
            <a:ext cx="2148840" cy="457200"/>
          </a:xfrm>
          <a:prstGeom prst="rect">
            <a:avLst/>
          </a:prstGeom>
          <a:noFill/>
          <a:ln/>
        </p:spPr>
        <p:txBody>
          <a:bodyPr wrap="square" rtlCol="0" anchor="ctr"/>
          <a:lstStyle/>
          <a:p>
            <a:pPr indent="0" marL="0">
              <a:buNone/>
            </a:pPr>
            <a:r>
              <a:rPr lang="en-US" sz="1800" b="1" dirty="0">
                <a:solidFill>
                  <a:srgbClr val="1E2761"/>
                </a:solidFill>
                <a:latin typeface="Georgia" pitchFamily="34" charset="0"/>
                <a:ea typeface="Georgia" pitchFamily="34" charset="-122"/>
                <a:cs typeface="Georgia" pitchFamily="34" charset="-120"/>
              </a:rPr>
              <a:t>Authenticity</a:t>
            </a:r>
            <a:endParaRPr lang="en-US" sz="1800" dirty="0"/>
          </a:p>
        </p:txBody>
      </p:sp>
      <p:sp>
        <p:nvSpPr>
          <p:cNvPr id="15" name="Text 13"/>
          <p:cNvSpPr/>
          <p:nvPr/>
        </p:nvSpPr>
        <p:spPr>
          <a:xfrm>
            <a:off x="3429000" y="2606040"/>
            <a:ext cx="2148840" cy="868680"/>
          </a:xfrm>
          <a:prstGeom prst="rect">
            <a:avLst/>
          </a:prstGeom>
          <a:noFill/>
          <a:ln/>
        </p:spPr>
        <p:txBody>
          <a:bodyPr wrap="square" rtlCol="0" anchor="t"/>
          <a:lstStyle/>
          <a:p>
            <a:pPr indent="0" marL="0">
              <a:buNone/>
            </a:pPr>
            <a:r>
              <a:rPr lang="en-US" sz="1300" dirty="0">
                <a:solidFill>
                  <a:srgbClr val="2F3C4F"/>
                </a:solidFill>
                <a:latin typeface="Calibri" pitchFamily="34" charset="0"/>
                <a:ea typeface="Calibri" pitchFamily="34" charset="-122"/>
                <a:cs typeface="Calibri" pitchFamily="34" charset="-120"/>
              </a:rPr>
              <a:t>Receiver is sure the sender is who they claim to be.</a:t>
            </a:r>
            <a:endParaRPr lang="en-US" sz="1300" dirty="0"/>
          </a:p>
        </p:txBody>
      </p:sp>
      <p:sp>
        <p:nvSpPr>
          <p:cNvPr id="16" name="Shape 14"/>
          <p:cNvSpPr/>
          <p:nvPr/>
        </p:nvSpPr>
        <p:spPr>
          <a:xfrm>
            <a:off x="5943600" y="1234440"/>
            <a:ext cx="2606040" cy="2331720"/>
          </a:xfrm>
          <a:prstGeom prst="rect">
            <a:avLst/>
          </a:prstGeom>
          <a:solidFill>
            <a:srgbClr val="F8FAFF"/>
          </a:solidFill>
          <a:ln w="12700">
            <a:solidFill>
              <a:srgbClr val="D5DEEF"/>
            </a:solidFill>
            <a:prstDash val="solid"/>
          </a:ln>
        </p:spPr>
      </p:sp>
      <p:sp>
        <p:nvSpPr>
          <p:cNvPr id="17" name="Shape 15"/>
          <p:cNvSpPr/>
          <p:nvPr/>
        </p:nvSpPr>
        <p:spPr>
          <a:xfrm>
            <a:off x="6172200" y="1463040"/>
            <a:ext cx="502920" cy="502920"/>
          </a:xfrm>
          <a:prstGeom prst="ellipse">
            <a:avLst/>
          </a:prstGeom>
          <a:solidFill>
            <a:srgbClr val="1E2761"/>
          </a:solidFill>
          <a:ln/>
        </p:spPr>
      </p:sp>
      <p:sp>
        <p:nvSpPr>
          <p:cNvPr id="18" name="Text 16"/>
          <p:cNvSpPr/>
          <p:nvPr/>
        </p:nvSpPr>
        <p:spPr>
          <a:xfrm>
            <a:off x="6172200" y="146304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19" name="Text 17"/>
          <p:cNvSpPr/>
          <p:nvPr/>
        </p:nvSpPr>
        <p:spPr>
          <a:xfrm>
            <a:off x="6172200" y="2103120"/>
            <a:ext cx="2148840" cy="457200"/>
          </a:xfrm>
          <a:prstGeom prst="rect">
            <a:avLst/>
          </a:prstGeom>
          <a:noFill/>
          <a:ln/>
        </p:spPr>
        <p:txBody>
          <a:bodyPr wrap="square" rtlCol="0" anchor="ctr"/>
          <a:lstStyle/>
          <a:p>
            <a:pPr indent="0" marL="0">
              <a:buNone/>
            </a:pPr>
            <a:r>
              <a:rPr lang="en-US" sz="1800" b="1" dirty="0">
                <a:solidFill>
                  <a:srgbClr val="1E2761"/>
                </a:solidFill>
                <a:latin typeface="Georgia" pitchFamily="34" charset="0"/>
                <a:ea typeface="Georgia" pitchFamily="34" charset="-122"/>
                <a:cs typeface="Georgia" pitchFamily="34" charset="-120"/>
              </a:rPr>
              <a:t>Non-repudiation</a:t>
            </a:r>
            <a:endParaRPr lang="en-US" sz="1800" dirty="0"/>
          </a:p>
        </p:txBody>
      </p:sp>
      <p:sp>
        <p:nvSpPr>
          <p:cNvPr id="20" name="Text 18"/>
          <p:cNvSpPr/>
          <p:nvPr/>
        </p:nvSpPr>
        <p:spPr>
          <a:xfrm>
            <a:off x="6172200" y="2606040"/>
            <a:ext cx="2148840" cy="868680"/>
          </a:xfrm>
          <a:prstGeom prst="rect">
            <a:avLst/>
          </a:prstGeom>
          <a:noFill/>
          <a:ln/>
        </p:spPr>
        <p:txBody>
          <a:bodyPr wrap="square" rtlCol="0" anchor="t"/>
          <a:lstStyle/>
          <a:p>
            <a:pPr indent="0" marL="0">
              <a:buNone/>
            </a:pPr>
            <a:r>
              <a:rPr lang="en-US" sz="1300" dirty="0">
                <a:solidFill>
                  <a:srgbClr val="2F3C4F"/>
                </a:solidFill>
                <a:latin typeface="Calibri" pitchFamily="34" charset="0"/>
                <a:ea typeface="Calibri" pitchFamily="34" charset="-122"/>
                <a:cs typeface="Calibri" pitchFamily="34" charset="-120"/>
              </a:rPr>
              <a:t>Sender cannot later deny having sent the message.</a:t>
            </a:r>
            <a:endParaRPr lang="en-US" sz="1300" dirty="0"/>
          </a:p>
        </p:txBody>
      </p:sp>
      <p:sp>
        <p:nvSpPr>
          <p:cNvPr id="21" name="Shape 19"/>
          <p:cNvSpPr/>
          <p:nvPr/>
        </p:nvSpPr>
        <p:spPr>
          <a:xfrm>
            <a:off x="457200" y="3794760"/>
            <a:ext cx="8229600" cy="777240"/>
          </a:xfrm>
          <a:prstGeom prst="rect">
            <a:avLst/>
          </a:prstGeom>
          <a:solidFill>
            <a:srgbClr val="F3ECD2"/>
          </a:solidFill>
          <a:ln w="12700">
            <a:solidFill>
              <a:srgbClr val="D4A017"/>
            </a:solidFill>
            <a:prstDash val="solid"/>
          </a:ln>
        </p:spPr>
      </p:sp>
      <p:sp>
        <p:nvSpPr>
          <p:cNvPr id="22" name="Text 20"/>
          <p:cNvSpPr/>
          <p:nvPr/>
        </p:nvSpPr>
        <p:spPr>
          <a:xfrm>
            <a:off x="640080" y="3794760"/>
            <a:ext cx="7863840" cy="777240"/>
          </a:xfrm>
          <a:prstGeom prst="rect">
            <a:avLst/>
          </a:prstGeom>
          <a:noFill/>
          <a:ln/>
        </p:spPr>
        <p:txBody>
          <a:bodyPr wrap="square" lIns="0" tIns="0" rIns="0" bIns="0"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Traditional approach:  </a:t>
            </a:r>
            <a:pPr algn="ctr" indent="0" marL="0">
              <a:buNone/>
            </a:pPr>
            <a:r>
              <a:rPr lang="en-US" sz="1600" dirty="0">
                <a:solidFill>
                  <a:srgbClr val="2F3C4F"/>
                </a:solidFill>
                <a:latin typeface="Calibri" pitchFamily="34" charset="0"/>
                <a:ea typeface="Calibri" pitchFamily="34" charset="-122"/>
                <a:cs typeface="Calibri" pitchFamily="34" charset="-120"/>
              </a:rPr>
              <a:t>Sign-then-Encrypt </a:t>
            </a:r>
            <a:pPr algn="ctr" indent="0" marL="0">
              <a:buNone/>
            </a:pPr>
            <a:r>
              <a:rPr lang="en-US" sz="1600" i="1" dirty="0">
                <a:solidFill>
                  <a:srgbClr val="6B7280"/>
                </a:solidFill>
                <a:latin typeface="Calibri" pitchFamily="34" charset="0"/>
                <a:ea typeface="Calibri" pitchFamily="34" charset="-122"/>
                <a:cs typeface="Calibri" pitchFamily="34" charset="-120"/>
              </a:rPr>
              <a:t>— but at what cost?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E2761"/>
          </a:solidFill>
          <a:ln/>
        </p:spPr>
      </p:sp>
      <p:sp>
        <p:nvSpPr>
          <p:cNvPr id="3" name="Text 1"/>
          <p:cNvSpPr/>
          <p:nvPr/>
        </p:nvSpPr>
        <p:spPr>
          <a:xfrm>
            <a:off x="274320" y="4873752"/>
            <a:ext cx="6858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 Review of Signcryption  ·  BAHATI Justin  ·  MSE 9123</a:t>
            </a:r>
            <a:endParaRPr lang="en-US" sz="900" dirty="0"/>
          </a:p>
        </p:txBody>
      </p:sp>
      <p:sp>
        <p:nvSpPr>
          <p:cNvPr id="4" name="Text 2"/>
          <p:cNvSpPr/>
          <p:nvPr/>
        </p:nvSpPr>
        <p:spPr>
          <a:xfrm>
            <a:off x="7863840" y="4873752"/>
            <a:ext cx="100584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 / 14</a:t>
            </a:r>
            <a:endParaRPr lang="en-US" sz="900" dirty="0"/>
          </a:p>
        </p:txBody>
      </p:sp>
      <p:sp>
        <p:nvSpPr>
          <p:cNvPr id="5" name="Text 3"/>
          <p:cNvSpPr/>
          <p:nvPr/>
        </p:nvSpPr>
        <p:spPr>
          <a:xfrm>
            <a:off x="320040" y="274320"/>
            <a:ext cx="8503920" cy="640080"/>
          </a:xfrm>
          <a:prstGeom prst="rect">
            <a:avLst/>
          </a:prstGeom>
          <a:noFill/>
          <a:ln/>
        </p:spPr>
        <p:txBody>
          <a:bodyPr wrap="square" lIns="0" tIns="0" rIns="0" bIns="0" rtlCol="0" anchor="ctr"/>
          <a:lstStyle/>
          <a:p>
            <a:pPr algn="l" indent="0" marL="0">
              <a:buNone/>
            </a:pPr>
            <a:r>
              <a:rPr lang="en-US" sz="2600" b="1" dirty="0">
                <a:solidFill>
                  <a:srgbClr val="1E2761"/>
                </a:solidFill>
                <a:latin typeface="Georgia" pitchFamily="34" charset="0"/>
                <a:ea typeface="Georgia" pitchFamily="34" charset="-122"/>
                <a:cs typeface="Georgia" pitchFamily="34" charset="-120"/>
              </a:rPr>
              <a:t>The Cost of Sign-then-Encrypt</a:t>
            </a:r>
            <a:endParaRPr lang="en-US" sz="2600" dirty="0"/>
          </a:p>
        </p:txBody>
      </p:sp>
      <p:sp>
        <p:nvSpPr>
          <p:cNvPr id="6" name="Text 4"/>
          <p:cNvSpPr/>
          <p:nvPr/>
        </p:nvSpPr>
        <p:spPr>
          <a:xfrm>
            <a:off x="457200" y="1051560"/>
            <a:ext cx="3931920" cy="1645920"/>
          </a:xfrm>
          <a:prstGeom prst="rect">
            <a:avLst/>
          </a:prstGeom>
          <a:noFill/>
          <a:ln/>
        </p:spPr>
        <p:txBody>
          <a:bodyPr wrap="square" lIns="0" tIns="0" rIns="0" bIns="0" rtlCol="0" anchor="ctr"/>
          <a:lstStyle/>
          <a:p>
            <a:pPr algn="ctr" indent="0" marL="0">
              <a:buNone/>
            </a:pPr>
            <a:r>
              <a:rPr lang="en-US" sz="9600" b="1" dirty="0">
                <a:solidFill>
                  <a:srgbClr val="1E2761"/>
                </a:solidFill>
                <a:latin typeface="Georgia" pitchFamily="34" charset="0"/>
                <a:ea typeface="Georgia" pitchFamily="34" charset="-122"/>
                <a:cs typeface="Georgia" pitchFamily="34" charset="-120"/>
              </a:rPr>
              <a:t>6</a:t>
            </a:r>
            <a:endParaRPr lang="en-US" sz="9600" dirty="0"/>
          </a:p>
        </p:txBody>
      </p:sp>
      <p:sp>
        <p:nvSpPr>
          <p:cNvPr id="7" name="Text 5"/>
          <p:cNvSpPr/>
          <p:nvPr/>
        </p:nvSpPr>
        <p:spPr>
          <a:xfrm>
            <a:off x="457200" y="2697480"/>
            <a:ext cx="3931920" cy="274320"/>
          </a:xfrm>
          <a:prstGeom prst="rect">
            <a:avLst/>
          </a:prstGeom>
          <a:noFill/>
          <a:ln/>
        </p:spPr>
        <p:txBody>
          <a:bodyPr wrap="square" lIns="0" tIns="0" rIns="0" bIns="0" rtlCol="0" anchor="ctr"/>
          <a:lstStyle/>
          <a:p>
            <a:pPr algn="ctr" indent="0" marL="0">
              <a:buNone/>
            </a:pPr>
            <a:r>
              <a:rPr lang="en-US" sz="1300" i="1" dirty="0">
                <a:solidFill>
                  <a:srgbClr val="6B7280"/>
                </a:solidFill>
                <a:latin typeface="Calibri" pitchFamily="34" charset="0"/>
                <a:ea typeface="Calibri" pitchFamily="34" charset="-122"/>
                <a:cs typeface="Calibri" pitchFamily="34" charset="-120"/>
              </a:rPr>
              <a:t>modular exponentiations</a:t>
            </a:r>
            <a:endParaRPr lang="en-US" sz="1300" dirty="0"/>
          </a:p>
        </p:txBody>
      </p:sp>
      <p:sp>
        <p:nvSpPr>
          <p:cNvPr id="8" name="Text 6"/>
          <p:cNvSpPr/>
          <p:nvPr/>
        </p:nvSpPr>
        <p:spPr>
          <a:xfrm>
            <a:off x="457200" y="2971800"/>
            <a:ext cx="3931920" cy="22860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Schnorr + ElGamal at 1536-bit</a:t>
            </a:r>
            <a:endParaRPr lang="en-US" sz="1100" dirty="0"/>
          </a:p>
        </p:txBody>
      </p:sp>
      <p:sp>
        <p:nvSpPr>
          <p:cNvPr id="9" name="Shape 7"/>
          <p:cNvSpPr/>
          <p:nvPr/>
        </p:nvSpPr>
        <p:spPr>
          <a:xfrm>
            <a:off x="4572000" y="1371600"/>
            <a:ext cx="0" cy="1828800"/>
          </a:xfrm>
          <a:prstGeom prst="line">
            <a:avLst/>
          </a:prstGeom>
          <a:noFill/>
          <a:ln w="12700">
            <a:solidFill>
              <a:srgbClr val="D5DEEF"/>
            </a:solidFill>
            <a:prstDash val="solid"/>
          </a:ln>
        </p:spPr>
      </p:sp>
      <p:sp>
        <p:nvSpPr>
          <p:cNvPr id="10" name="Text 8"/>
          <p:cNvSpPr/>
          <p:nvPr/>
        </p:nvSpPr>
        <p:spPr>
          <a:xfrm>
            <a:off x="4754880" y="1051560"/>
            <a:ext cx="3931920" cy="1645920"/>
          </a:xfrm>
          <a:prstGeom prst="rect">
            <a:avLst/>
          </a:prstGeom>
          <a:noFill/>
          <a:ln/>
        </p:spPr>
        <p:txBody>
          <a:bodyPr wrap="square" lIns="0" tIns="0" rIns="0" bIns="0" rtlCol="0" anchor="ctr"/>
          <a:lstStyle/>
          <a:p>
            <a:pPr algn="ctr" indent="0" marL="0">
              <a:buNone/>
            </a:pPr>
            <a:r>
              <a:rPr lang="en-US" sz="8000" b="1" dirty="0">
                <a:solidFill>
                  <a:srgbClr val="1E2761"/>
                </a:solidFill>
                <a:latin typeface="Georgia" pitchFamily="34" charset="0"/>
                <a:ea typeface="Georgia" pitchFamily="34" charset="-122"/>
                <a:cs typeface="Georgia" pitchFamily="34" charset="-120"/>
              </a:rPr>
              <a:t>&gt;50%</a:t>
            </a:r>
            <a:endParaRPr lang="en-US" sz="8000" dirty="0"/>
          </a:p>
        </p:txBody>
      </p:sp>
      <p:sp>
        <p:nvSpPr>
          <p:cNvPr id="11" name="Text 9"/>
          <p:cNvSpPr/>
          <p:nvPr/>
        </p:nvSpPr>
        <p:spPr>
          <a:xfrm>
            <a:off x="4754880" y="2697480"/>
            <a:ext cx="3931920" cy="274320"/>
          </a:xfrm>
          <a:prstGeom prst="rect">
            <a:avLst/>
          </a:prstGeom>
          <a:noFill/>
          <a:ln/>
        </p:spPr>
        <p:txBody>
          <a:bodyPr wrap="square" lIns="0" tIns="0" rIns="0" bIns="0" rtlCol="0" anchor="ctr"/>
          <a:lstStyle/>
          <a:p>
            <a:pPr algn="ctr" indent="0" marL="0">
              <a:buNone/>
            </a:pPr>
            <a:r>
              <a:rPr lang="en-US" sz="1300" i="1" dirty="0">
                <a:solidFill>
                  <a:srgbClr val="6B7280"/>
                </a:solidFill>
                <a:latin typeface="Calibri" pitchFamily="34" charset="0"/>
                <a:ea typeface="Calibri" pitchFamily="34" charset="-122"/>
                <a:cs typeface="Calibri" pitchFamily="34" charset="-120"/>
              </a:rPr>
              <a:t>communication overhead</a:t>
            </a:r>
            <a:endParaRPr lang="en-US" sz="1300" dirty="0"/>
          </a:p>
        </p:txBody>
      </p:sp>
      <p:sp>
        <p:nvSpPr>
          <p:cNvPr id="12" name="Text 10"/>
          <p:cNvSpPr/>
          <p:nvPr/>
        </p:nvSpPr>
        <p:spPr>
          <a:xfrm>
            <a:off x="4754880" y="2971800"/>
            <a:ext cx="3931920" cy="22860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Ciphertext exceeds half the plaintext length</a:t>
            </a:r>
            <a:endParaRPr lang="en-US" sz="1100" dirty="0"/>
          </a:p>
        </p:txBody>
      </p:sp>
      <p:sp>
        <p:nvSpPr>
          <p:cNvPr id="13" name="Shape 11"/>
          <p:cNvSpPr/>
          <p:nvPr/>
        </p:nvSpPr>
        <p:spPr>
          <a:xfrm>
            <a:off x="457200" y="3520440"/>
            <a:ext cx="8229600" cy="1097280"/>
          </a:xfrm>
          <a:prstGeom prst="rect">
            <a:avLst/>
          </a:prstGeom>
          <a:solidFill>
            <a:srgbClr val="F6F8FC"/>
          </a:solidFill>
          <a:ln/>
        </p:spPr>
      </p:sp>
      <p:sp>
        <p:nvSpPr>
          <p:cNvPr id="14" name="Text 12"/>
          <p:cNvSpPr/>
          <p:nvPr/>
        </p:nvSpPr>
        <p:spPr>
          <a:xfrm>
            <a:off x="731520" y="3520440"/>
            <a:ext cx="7680960" cy="1097280"/>
          </a:xfrm>
          <a:prstGeom prst="rect">
            <a:avLst/>
          </a:prstGeom>
          <a:noFill/>
          <a:ln/>
        </p:spPr>
        <p:txBody>
          <a:bodyPr wrap="square" rtlCol="0" anchor="ctr"/>
          <a:lstStyle/>
          <a:p>
            <a:pPr algn="l" indent="0" marL="0">
              <a:buNone/>
            </a:pPr>
            <a:r>
              <a:rPr lang="en-US" sz="3600" b="1" dirty="0">
                <a:solidFill>
                  <a:srgbClr val="1E2761"/>
                </a:solidFill>
                <a:latin typeface="Georgia" pitchFamily="34" charset="0"/>
                <a:ea typeface="Georgia" pitchFamily="34" charset="-122"/>
                <a:cs typeface="Georgia" pitchFamily="34" charset="-120"/>
              </a:rPr>
              <a:t>“</a:t>
            </a:r>
            <a:pPr algn="l" indent="0" marL="0">
              <a:buNone/>
            </a:pPr>
            <a:r>
              <a:rPr lang="en-US" sz="1500" dirty="0">
                <a:solidFill>
                  <a:srgbClr val="2F3C4F"/>
                </a:solidFill>
                <a:latin typeface="Georgia" pitchFamily="34" charset="0"/>
                <a:ea typeface="Georgia" pitchFamily="34" charset="-122"/>
                <a:cs typeface="Georgia" pitchFamily="34" charset="-120"/>
              </a:rPr>
              <a:t>No one had previously questioned whether secure + authenticated delivery </a:t>
            </a:r>
            <a:pPr algn="l" indent="0" marL="0">
              <a:buNone/>
            </a:pPr>
            <a:r>
              <a:rPr lang="en-US" sz="1500" i="1" dirty="0">
                <a:solidFill>
                  <a:srgbClr val="2F3C4F"/>
                </a:solidFill>
                <a:latin typeface="Georgia" pitchFamily="34" charset="0"/>
                <a:ea typeface="Georgia" pitchFamily="34" charset="-122"/>
                <a:cs typeface="Georgia" pitchFamily="34" charset="-120"/>
              </a:rPr>
              <a:t>must </a:t>
            </a:r>
            <a:pPr algn="l" indent="0" marL="0">
              <a:buNone/>
            </a:pPr>
            <a:r>
              <a:rPr lang="en-US" sz="1500" dirty="0">
                <a:solidFill>
                  <a:srgbClr val="2F3C4F"/>
                </a:solidFill>
                <a:latin typeface="Georgia" pitchFamily="34" charset="0"/>
                <a:ea typeface="Georgia" pitchFamily="34" charset="-122"/>
                <a:cs typeface="Georgia" pitchFamily="34" charset="-120"/>
              </a:rPr>
              <a:t>cost the sum of signature and encryption separately.”</a:t>
            </a:r>
            <a:pPr algn="l" indent="0" marL="0">
              <a:buNone/>
            </a:pPr>
            <a:r>
              <a:rPr lang="en-US" sz="1200" i="1" dirty="0">
                <a:solidFill>
                  <a:srgbClr val="6B7280"/>
                </a:solidFill>
                <a:latin typeface="Georgia" pitchFamily="34" charset="0"/>
                <a:ea typeface="Georgia" pitchFamily="34" charset="-122"/>
                <a:cs typeface="Georgia" pitchFamily="34" charset="-120"/>
              </a:rPr>
              <a:t>   —  Zheng, CRYPTO 1997</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E2761"/>
          </a:solidFill>
          <a:ln/>
        </p:spPr>
      </p:sp>
      <p:sp>
        <p:nvSpPr>
          <p:cNvPr id="3" name="Text 1"/>
          <p:cNvSpPr/>
          <p:nvPr/>
        </p:nvSpPr>
        <p:spPr>
          <a:xfrm>
            <a:off x="274320" y="4873752"/>
            <a:ext cx="6858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 Review of Signcryption  ·  BAHATI Justin  ·  MSE 9123</a:t>
            </a:r>
            <a:endParaRPr lang="en-US" sz="900" dirty="0"/>
          </a:p>
        </p:txBody>
      </p:sp>
      <p:sp>
        <p:nvSpPr>
          <p:cNvPr id="4" name="Text 2"/>
          <p:cNvSpPr/>
          <p:nvPr/>
        </p:nvSpPr>
        <p:spPr>
          <a:xfrm>
            <a:off x="7863840" y="4873752"/>
            <a:ext cx="100584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 / 14</a:t>
            </a:r>
            <a:endParaRPr lang="en-US" sz="900" dirty="0"/>
          </a:p>
        </p:txBody>
      </p:sp>
      <p:sp>
        <p:nvSpPr>
          <p:cNvPr id="5" name="Text 3"/>
          <p:cNvSpPr/>
          <p:nvPr/>
        </p:nvSpPr>
        <p:spPr>
          <a:xfrm>
            <a:off x="320040" y="274320"/>
            <a:ext cx="8503920" cy="640080"/>
          </a:xfrm>
          <a:prstGeom prst="rect">
            <a:avLst/>
          </a:prstGeom>
          <a:noFill/>
          <a:ln/>
        </p:spPr>
        <p:txBody>
          <a:bodyPr wrap="square" lIns="0" tIns="0" rIns="0" bIns="0" rtlCol="0" anchor="ctr"/>
          <a:lstStyle/>
          <a:p>
            <a:pPr algn="l" indent="0" marL="0">
              <a:buNone/>
            </a:pPr>
            <a:r>
              <a:rPr lang="en-US" sz="2600" b="1" dirty="0">
                <a:solidFill>
                  <a:srgbClr val="1E2761"/>
                </a:solidFill>
                <a:latin typeface="Georgia" pitchFamily="34" charset="0"/>
                <a:ea typeface="Georgia" pitchFamily="34" charset="-122"/>
                <a:cs typeface="Georgia" pitchFamily="34" charset="-120"/>
              </a:rPr>
              <a:t>Signcryption: One Operation, Both Goals</a:t>
            </a:r>
            <a:endParaRPr lang="en-US" sz="2600" dirty="0"/>
          </a:p>
        </p:txBody>
      </p:sp>
      <p:sp>
        <p:nvSpPr>
          <p:cNvPr id="6" name="Text 4"/>
          <p:cNvSpPr/>
          <p:nvPr/>
        </p:nvSpPr>
        <p:spPr>
          <a:xfrm>
            <a:off x="457200" y="1143000"/>
            <a:ext cx="8229600" cy="274320"/>
          </a:xfrm>
          <a:prstGeom prst="rect">
            <a:avLst/>
          </a:prstGeom>
          <a:noFill/>
          <a:ln/>
        </p:spPr>
        <p:txBody>
          <a:bodyPr wrap="square" rtlCol="0" anchor="ctr"/>
          <a:lstStyle/>
          <a:p>
            <a:pPr indent="0" marL="0">
              <a:buNone/>
            </a:pPr>
            <a:r>
              <a:rPr lang="en-US" sz="1300" b="1" dirty="0">
                <a:solidFill>
                  <a:srgbClr val="6B7280"/>
                </a:solidFill>
                <a:latin typeface="Calibri" pitchFamily="34" charset="0"/>
                <a:ea typeface="Calibri" pitchFamily="34" charset="-122"/>
                <a:cs typeface="Calibri" pitchFamily="34" charset="-120"/>
              </a:rPr>
              <a:t>Sign-then-Encrypt (StE)</a:t>
            </a:r>
            <a:endParaRPr lang="en-US" sz="1300" dirty="0"/>
          </a:p>
        </p:txBody>
      </p:sp>
      <p:sp>
        <p:nvSpPr>
          <p:cNvPr id="7" name="Shape 5"/>
          <p:cNvSpPr/>
          <p:nvPr/>
        </p:nvSpPr>
        <p:spPr>
          <a:xfrm>
            <a:off x="548640" y="1463040"/>
            <a:ext cx="1188720" cy="502920"/>
          </a:xfrm>
          <a:prstGeom prst="roundRect">
            <a:avLst>
              <a:gd name="adj" fmla="val 14545"/>
            </a:avLst>
          </a:prstGeom>
          <a:solidFill>
            <a:srgbClr val="F3F5FA"/>
          </a:solidFill>
          <a:ln w="12700">
            <a:solidFill>
              <a:srgbClr val="D5DEEF"/>
            </a:solidFill>
            <a:prstDash val="solid"/>
          </a:ln>
        </p:spPr>
      </p:sp>
      <p:sp>
        <p:nvSpPr>
          <p:cNvPr id="8" name="Text 6"/>
          <p:cNvSpPr/>
          <p:nvPr/>
        </p:nvSpPr>
        <p:spPr>
          <a:xfrm>
            <a:off x="548640" y="1463040"/>
            <a:ext cx="1188720" cy="502920"/>
          </a:xfrm>
          <a:prstGeom prst="rect">
            <a:avLst/>
          </a:prstGeom>
          <a:noFill/>
          <a:ln/>
        </p:spPr>
        <p:txBody>
          <a:bodyPr wrap="square" lIns="0" tIns="0" rIns="0" bIns="0" rtlCol="0" anchor="ctr"/>
          <a:lstStyle/>
          <a:p>
            <a:pPr algn="ctr" indent="0" marL="0">
              <a:buNone/>
            </a:pPr>
            <a:r>
              <a:rPr lang="en-US" sz="1300" dirty="0">
                <a:solidFill>
                  <a:srgbClr val="2F3C4F"/>
                </a:solidFill>
                <a:latin typeface="Calibri" pitchFamily="34" charset="0"/>
                <a:ea typeface="Calibri" pitchFamily="34" charset="-122"/>
                <a:cs typeface="Calibri" pitchFamily="34" charset="-120"/>
              </a:rPr>
              <a:t>Message m</a:t>
            </a:r>
            <a:endParaRPr lang="en-US" sz="1300" dirty="0"/>
          </a:p>
        </p:txBody>
      </p:sp>
      <p:sp>
        <p:nvSpPr>
          <p:cNvPr id="9" name="Shape 7"/>
          <p:cNvSpPr/>
          <p:nvPr/>
        </p:nvSpPr>
        <p:spPr>
          <a:xfrm>
            <a:off x="1783080" y="1719072"/>
            <a:ext cx="274320" cy="0"/>
          </a:xfrm>
          <a:prstGeom prst="line">
            <a:avLst/>
          </a:prstGeom>
          <a:noFill/>
          <a:ln w="19050">
            <a:solidFill>
              <a:srgbClr val="1E2761"/>
            </a:solidFill>
            <a:prstDash val="solid"/>
            <a:tailEnd type="triangle"/>
          </a:ln>
        </p:spPr>
      </p:sp>
      <p:sp>
        <p:nvSpPr>
          <p:cNvPr id="10" name="Shape 8"/>
          <p:cNvSpPr/>
          <p:nvPr/>
        </p:nvSpPr>
        <p:spPr>
          <a:xfrm>
            <a:off x="2103120" y="1463040"/>
            <a:ext cx="1463040" cy="502920"/>
          </a:xfrm>
          <a:prstGeom prst="roundRect">
            <a:avLst>
              <a:gd name="adj" fmla="val 14545"/>
            </a:avLst>
          </a:prstGeom>
          <a:solidFill>
            <a:srgbClr val="F3F5FA"/>
          </a:solidFill>
          <a:ln w="12700">
            <a:solidFill>
              <a:srgbClr val="D5DEEF"/>
            </a:solidFill>
            <a:prstDash val="solid"/>
          </a:ln>
        </p:spPr>
      </p:sp>
      <p:sp>
        <p:nvSpPr>
          <p:cNvPr id="11" name="Text 9"/>
          <p:cNvSpPr/>
          <p:nvPr/>
        </p:nvSpPr>
        <p:spPr>
          <a:xfrm>
            <a:off x="2103120" y="1463040"/>
            <a:ext cx="1463040" cy="502920"/>
          </a:xfrm>
          <a:prstGeom prst="rect">
            <a:avLst/>
          </a:prstGeom>
          <a:noFill/>
          <a:ln/>
        </p:spPr>
        <p:txBody>
          <a:bodyPr wrap="square" lIns="0" tIns="0" rIns="0" bIns="0" rtlCol="0" anchor="ctr"/>
          <a:lstStyle/>
          <a:p>
            <a:pPr algn="ctr" indent="0" marL="0">
              <a:buNone/>
            </a:pPr>
            <a:r>
              <a:rPr lang="en-US" sz="1300" dirty="0">
                <a:solidFill>
                  <a:srgbClr val="2F3C4F"/>
                </a:solidFill>
                <a:latin typeface="Calibri" pitchFamily="34" charset="0"/>
                <a:ea typeface="Calibri" pitchFamily="34" charset="-122"/>
                <a:cs typeface="Calibri" pitchFamily="34" charset="-120"/>
              </a:rPr>
              <a:t>Sign (sk_A)</a:t>
            </a:r>
            <a:endParaRPr lang="en-US" sz="1300" dirty="0"/>
          </a:p>
        </p:txBody>
      </p:sp>
      <p:sp>
        <p:nvSpPr>
          <p:cNvPr id="12" name="Shape 10"/>
          <p:cNvSpPr/>
          <p:nvPr/>
        </p:nvSpPr>
        <p:spPr>
          <a:xfrm>
            <a:off x="3611880" y="1719072"/>
            <a:ext cx="274320" cy="0"/>
          </a:xfrm>
          <a:prstGeom prst="line">
            <a:avLst/>
          </a:prstGeom>
          <a:noFill/>
          <a:ln w="19050">
            <a:solidFill>
              <a:srgbClr val="1E2761"/>
            </a:solidFill>
            <a:prstDash val="solid"/>
            <a:tailEnd type="triangle"/>
          </a:ln>
        </p:spPr>
      </p:sp>
      <p:sp>
        <p:nvSpPr>
          <p:cNvPr id="13" name="Shape 11"/>
          <p:cNvSpPr/>
          <p:nvPr/>
        </p:nvSpPr>
        <p:spPr>
          <a:xfrm>
            <a:off x="3931920" y="1463040"/>
            <a:ext cx="1463040" cy="502920"/>
          </a:xfrm>
          <a:prstGeom prst="roundRect">
            <a:avLst>
              <a:gd name="adj" fmla="val 14545"/>
            </a:avLst>
          </a:prstGeom>
          <a:solidFill>
            <a:srgbClr val="F3F5FA"/>
          </a:solidFill>
          <a:ln w="12700">
            <a:solidFill>
              <a:srgbClr val="D5DEEF"/>
            </a:solidFill>
            <a:prstDash val="solid"/>
          </a:ln>
        </p:spPr>
      </p:sp>
      <p:sp>
        <p:nvSpPr>
          <p:cNvPr id="14" name="Text 12"/>
          <p:cNvSpPr/>
          <p:nvPr/>
        </p:nvSpPr>
        <p:spPr>
          <a:xfrm>
            <a:off x="3931920" y="1463040"/>
            <a:ext cx="1463040" cy="502920"/>
          </a:xfrm>
          <a:prstGeom prst="rect">
            <a:avLst/>
          </a:prstGeom>
          <a:noFill/>
          <a:ln/>
        </p:spPr>
        <p:txBody>
          <a:bodyPr wrap="square" lIns="0" tIns="0" rIns="0" bIns="0" rtlCol="0" anchor="ctr"/>
          <a:lstStyle/>
          <a:p>
            <a:pPr algn="ctr" indent="0" marL="0">
              <a:buNone/>
            </a:pPr>
            <a:r>
              <a:rPr lang="en-US" sz="1300" dirty="0">
                <a:solidFill>
                  <a:srgbClr val="2F3C4F"/>
                </a:solidFill>
                <a:latin typeface="Calibri" pitchFamily="34" charset="0"/>
                <a:ea typeface="Calibri" pitchFamily="34" charset="-122"/>
                <a:cs typeface="Calibri" pitchFamily="34" charset="-120"/>
              </a:rPr>
              <a:t>Encrypt (pk_B)</a:t>
            </a:r>
            <a:endParaRPr lang="en-US" sz="1300" dirty="0"/>
          </a:p>
        </p:txBody>
      </p:sp>
      <p:sp>
        <p:nvSpPr>
          <p:cNvPr id="15" name="Shape 13"/>
          <p:cNvSpPr/>
          <p:nvPr/>
        </p:nvSpPr>
        <p:spPr>
          <a:xfrm>
            <a:off x="5440680" y="1719072"/>
            <a:ext cx="274320" cy="0"/>
          </a:xfrm>
          <a:prstGeom prst="line">
            <a:avLst/>
          </a:prstGeom>
          <a:noFill/>
          <a:ln w="19050">
            <a:solidFill>
              <a:srgbClr val="1E2761"/>
            </a:solidFill>
            <a:prstDash val="solid"/>
            <a:tailEnd type="triangle"/>
          </a:ln>
        </p:spPr>
      </p:sp>
      <p:sp>
        <p:nvSpPr>
          <p:cNvPr id="16" name="Shape 14"/>
          <p:cNvSpPr/>
          <p:nvPr/>
        </p:nvSpPr>
        <p:spPr>
          <a:xfrm>
            <a:off x="5760720" y="1463040"/>
            <a:ext cx="1554480" cy="502920"/>
          </a:xfrm>
          <a:prstGeom prst="roundRect">
            <a:avLst>
              <a:gd name="adj" fmla="val 14545"/>
            </a:avLst>
          </a:prstGeom>
          <a:solidFill>
            <a:srgbClr val="EEF2FA"/>
          </a:solidFill>
          <a:ln w="12700">
            <a:solidFill>
              <a:srgbClr val="D5DEEF"/>
            </a:solidFill>
            <a:prstDash val="solid"/>
          </a:ln>
        </p:spPr>
      </p:sp>
      <p:sp>
        <p:nvSpPr>
          <p:cNvPr id="17" name="Text 15"/>
          <p:cNvSpPr/>
          <p:nvPr/>
        </p:nvSpPr>
        <p:spPr>
          <a:xfrm>
            <a:off x="5760720" y="1463040"/>
            <a:ext cx="1554480" cy="50292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(c, σ)</a:t>
            </a:r>
            <a:endParaRPr lang="en-US" sz="1300" dirty="0"/>
          </a:p>
        </p:txBody>
      </p:sp>
      <p:sp>
        <p:nvSpPr>
          <p:cNvPr id="18" name="Text 16"/>
          <p:cNvSpPr/>
          <p:nvPr/>
        </p:nvSpPr>
        <p:spPr>
          <a:xfrm>
            <a:off x="548640" y="2057400"/>
            <a:ext cx="6858000" cy="27432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6 exponentiations  ·  2 sequential steps</a:t>
            </a:r>
            <a:endParaRPr lang="en-US" sz="1100" dirty="0"/>
          </a:p>
        </p:txBody>
      </p:sp>
      <p:sp>
        <p:nvSpPr>
          <p:cNvPr id="19" name="Shape 17"/>
          <p:cNvSpPr/>
          <p:nvPr/>
        </p:nvSpPr>
        <p:spPr>
          <a:xfrm>
            <a:off x="457200" y="2514600"/>
            <a:ext cx="8229600" cy="0"/>
          </a:xfrm>
          <a:prstGeom prst="line">
            <a:avLst/>
          </a:prstGeom>
          <a:noFill/>
          <a:ln w="12700">
            <a:solidFill>
              <a:srgbClr val="D5DEEF"/>
            </a:solidFill>
            <a:prstDash val="solid"/>
          </a:ln>
        </p:spPr>
      </p:sp>
      <p:sp>
        <p:nvSpPr>
          <p:cNvPr id="20" name="Text 18"/>
          <p:cNvSpPr/>
          <p:nvPr/>
        </p:nvSpPr>
        <p:spPr>
          <a:xfrm>
            <a:off x="457200" y="2651760"/>
            <a:ext cx="8229600" cy="27432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Signcryption (Zheng, 1997)</a:t>
            </a:r>
            <a:endParaRPr lang="en-US" sz="1300" dirty="0"/>
          </a:p>
        </p:txBody>
      </p:sp>
      <p:sp>
        <p:nvSpPr>
          <p:cNvPr id="21" name="Shape 19"/>
          <p:cNvSpPr/>
          <p:nvPr/>
        </p:nvSpPr>
        <p:spPr>
          <a:xfrm>
            <a:off x="548640" y="2971800"/>
            <a:ext cx="1188720" cy="502920"/>
          </a:xfrm>
          <a:prstGeom prst="roundRect">
            <a:avLst>
              <a:gd name="adj" fmla="val 14545"/>
            </a:avLst>
          </a:prstGeom>
          <a:solidFill>
            <a:srgbClr val="F3F5FA"/>
          </a:solidFill>
          <a:ln w="12700">
            <a:solidFill>
              <a:srgbClr val="D5DEEF"/>
            </a:solidFill>
            <a:prstDash val="solid"/>
          </a:ln>
        </p:spPr>
      </p:sp>
      <p:sp>
        <p:nvSpPr>
          <p:cNvPr id="22" name="Text 20"/>
          <p:cNvSpPr/>
          <p:nvPr/>
        </p:nvSpPr>
        <p:spPr>
          <a:xfrm>
            <a:off x="548640" y="2971800"/>
            <a:ext cx="1188720" cy="502920"/>
          </a:xfrm>
          <a:prstGeom prst="rect">
            <a:avLst/>
          </a:prstGeom>
          <a:noFill/>
          <a:ln/>
        </p:spPr>
        <p:txBody>
          <a:bodyPr wrap="square" lIns="0" tIns="0" rIns="0" bIns="0" rtlCol="0" anchor="ctr"/>
          <a:lstStyle/>
          <a:p>
            <a:pPr algn="ctr" indent="0" marL="0">
              <a:buNone/>
            </a:pPr>
            <a:r>
              <a:rPr lang="en-US" sz="1300" dirty="0">
                <a:solidFill>
                  <a:srgbClr val="2F3C4F"/>
                </a:solidFill>
                <a:latin typeface="Calibri" pitchFamily="34" charset="0"/>
                <a:ea typeface="Calibri" pitchFamily="34" charset="-122"/>
                <a:cs typeface="Calibri" pitchFamily="34" charset="-120"/>
              </a:rPr>
              <a:t>Message m</a:t>
            </a:r>
            <a:endParaRPr lang="en-US" sz="1300" dirty="0"/>
          </a:p>
        </p:txBody>
      </p:sp>
      <p:sp>
        <p:nvSpPr>
          <p:cNvPr id="23" name="Shape 21"/>
          <p:cNvSpPr/>
          <p:nvPr/>
        </p:nvSpPr>
        <p:spPr>
          <a:xfrm>
            <a:off x="1783080" y="3227832"/>
            <a:ext cx="274320" cy="0"/>
          </a:xfrm>
          <a:prstGeom prst="line">
            <a:avLst/>
          </a:prstGeom>
          <a:noFill/>
          <a:ln w="19050">
            <a:solidFill>
              <a:srgbClr val="1E2761"/>
            </a:solidFill>
            <a:prstDash val="solid"/>
            <a:tailEnd type="triangle"/>
          </a:ln>
        </p:spPr>
      </p:sp>
      <p:sp>
        <p:nvSpPr>
          <p:cNvPr id="24" name="Shape 22"/>
          <p:cNvSpPr/>
          <p:nvPr/>
        </p:nvSpPr>
        <p:spPr>
          <a:xfrm>
            <a:off x="2103120" y="2971800"/>
            <a:ext cx="3291840" cy="502920"/>
          </a:xfrm>
          <a:prstGeom prst="roundRect">
            <a:avLst>
              <a:gd name="adj" fmla="val 14545"/>
            </a:avLst>
          </a:prstGeom>
          <a:solidFill>
            <a:srgbClr val="E4E9F5"/>
          </a:solidFill>
          <a:ln w="12700">
            <a:solidFill>
              <a:srgbClr val="D5DEEF"/>
            </a:solidFill>
            <a:prstDash val="solid"/>
          </a:ln>
        </p:spPr>
      </p:sp>
      <p:sp>
        <p:nvSpPr>
          <p:cNvPr id="25" name="Text 23"/>
          <p:cNvSpPr/>
          <p:nvPr/>
        </p:nvSpPr>
        <p:spPr>
          <a:xfrm>
            <a:off x="2103120" y="2971800"/>
            <a:ext cx="3291840" cy="50292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Signcrypt (sk_A, pk_B)</a:t>
            </a:r>
            <a:endParaRPr lang="en-US" sz="1300" dirty="0"/>
          </a:p>
        </p:txBody>
      </p:sp>
      <p:sp>
        <p:nvSpPr>
          <p:cNvPr id="26" name="Shape 24"/>
          <p:cNvSpPr/>
          <p:nvPr/>
        </p:nvSpPr>
        <p:spPr>
          <a:xfrm>
            <a:off x="5440680" y="3227832"/>
            <a:ext cx="274320" cy="0"/>
          </a:xfrm>
          <a:prstGeom prst="line">
            <a:avLst/>
          </a:prstGeom>
          <a:noFill/>
          <a:ln w="19050">
            <a:solidFill>
              <a:srgbClr val="1E2761"/>
            </a:solidFill>
            <a:prstDash val="solid"/>
            <a:tailEnd type="triangle"/>
          </a:ln>
        </p:spPr>
      </p:sp>
      <p:sp>
        <p:nvSpPr>
          <p:cNvPr id="27" name="Shape 25"/>
          <p:cNvSpPr/>
          <p:nvPr/>
        </p:nvSpPr>
        <p:spPr>
          <a:xfrm>
            <a:off x="5760720" y="2971800"/>
            <a:ext cx="1554480" cy="502920"/>
          </a:xfrm>
          <a:prstGeom prst="roundRect">
            <a:avLst>
              <a:gd name="adj" fmla="val 14545"/>
            </a:avLst>
          </a:prstGeom>
          <a:solidFill>
            <a:srgbClr val="EEF2FA"/>
          </a:solidFill>
          <a:ln w="12700">
            <a:solidFill>
              <a:srgbClr val="D5DEEF"/>
            </a:solidFill>
            <a:prstDash val="solid"/>
          </a:ln>
        </p:spPr>
      </p:sp>
      <p:sp>
        <p:nvSpPr>
          <p:cNvPr id="28" name="Text 26"/>
          <p:cNvSpPr/>
          <p:nvPr/>
        </p:nvSpPr>
        <p:spPr>
          <a:xfrm>
            <a:off x="5760720" y="2971800"/>
            <a:ext cx="1554480" cy="50292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c</a:t>
            </a:r>
            <a:endParaRPr lang="en-US" sz="1300" dirty="0"/>
          </a:p>
        </p:txBody>
      </p:sp>
      <p:sp>
        <p:nvSpPr>
          <p:cNvPr id="29" name="Text 27"/>
          <p:cNvSpPr/>
          <p:nvPr/>
        </p:nvSpPr>
        <p:spPr>
          <a:xfrm>
            <a:off x="548640" y="3566160"/>
            <a:ext cx="6858000" cy="27432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3 exponentiations  ·  single step with shared key exchange</a:t>
            </a:r>
            <a:endParaRPr lang="en-US" sz="1100" dirty="0"/>
          </a:p>
        </p:txBody>
      </p:sp>
      <p:sp>
        <p:nvSpPr>
          <p:cNvPr id="30" name="Shape 28"/>
          <p:cNvSpPr/>
          <p:nvPr/>
        </p:nvSpPr>
        <p:spPr>
          <a:xfrm>
            <a:off x="457200" y="4023360"/>
            <a:ext cx="8229600" cy="594360"/>
          </a:xfrm>
          <a:prstGeom prst="rect">
            <a:avLst/>
          </a:prstGeom>
          <a:solidFill>
            <a:srgbClr val="1E2761"/>
          </a:solidFill>
          <a:ln/>
        </p:spPr>
      </p:sp>
      <p:sp>
        <p:nvSpPr>
          <p:cNvPr id="31" name="Text 29"/>
          <p:cNvSpPr/>
          <p:nvPr/>
        </p:nvSpPr>
        <p:spPr>
          <a:xfrm>
            <a:off x="457200" y="4023360"/>
            <a:ext cx="8229600" cy="59436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~50% </a:t>
            </a:r>
            <a:pPr algn="ctr" indent="0" marL="0">
              <a:buNone/>
            </a:pPr>
            <a:r>
              <a:rPr lang="en-US" sz="1500" dirty="0">
                <a:solidFill>
                  <a:srgbClr val="FFFFFF"/>
                </a:solidFill>
                <a:latin typeface="Calibri" pitchFamily="34" charset="0"/>
                <a:ea typeface="Calibri" pitchFamily="34" charset="-122"/>
                <a:cs typeface="Calibri" pitchFamily="34" charset="-120"/>
              </a:rPr>
              <a:t>computational savings    ·    </a:t>
            </a:r>
            <a:pPr algn="ctr" indent="0" marL="0">
              <a:buNone/>
            </a:pPr>
            <a:r>
              <a:rPr lang="en-US" sz="2200" b="1" dirty="0">
                <a:solidFill>
                  <a:srgbClr val="D4A017"/>
                </a:solidFill>
                <a:latin typeface="Calibri" pitchFamily="34" charset="0"/>
                <a:ea typeface="Calibri" pitchFamily="34" charset="-122"/>
                <a:cs typeface="Calibri" pitchFamily="34" charset="-120"/>
              </a:rPr>
              <a:t>~85% </a:t>
            </a:r>
            <a:pPr algn="ctr" indent="0" marL="0">
              <a:buNone/>
            </a:pPr>
            <a:r>
              <a:rPr lang="en-US" sz="1500" dirty="0">
                <a:solidFill>
                  <a:srgbClr val="FFFFFF"/>
                </a:solidFill>
                <a:latin typeface="Calibri" pitchFamily="34" charset="0"/>
                <a:ea typeface="Calibri" pitchFamily="34" charset="-122"/>
                <a:cs typeface="Calibri" pitchFamily="34" charset="-120"/>
              </a:rPr>
              <a:t>communication savings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E2761"/>
          </a:solidFill>
          <a:ln/>
        </p:spPr>
      </p:sp>
      <p:sp>
        <p:nvSpPr>
          <p:cNvPr id="3" name="Text 1"/>
          <p:cNvSpPr/>
          <p:nvPr/>
        </p:nvSpPr>
        <p:spPr>
          <a:xfrm>
            <a:off x="274320" y="4873752"/>
            <a:ext cx="6858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 Review of Signcryption  ·  BAHATI Justin  ·  MSE 9123</a:t>
            </a:r>
            <a:endParaRPr lang="en-US" sz="900" dirty="0"/>
          </a:p>
        </p:txBody>
      </p:sp>
      <p:sp>
        <p:nvSpPr>
          <p:cNvPr id="4" name="Text 2"/>
          <p:cNvSpPr/>
          <p:nvPr/>
        </p:nvSpPr>
        <p:spPr>
          <a:xfrm>
            <a:off x="7863840" y="4873752"/>
            <a:ext cx="100584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 / 14</a:t>
            </a:r>
            <a:endParaRPr lang="en-US" sz="900" dirty="0"/>
          </a:p>
        </p:txBody>
      </p:sp>
      <p:sp>
        <p:nvSpPr>
          <p:cNvPr id="5" name="Text 3"/>
          <p:cNvSpPr/>
          <p:nvPr/>
        </p:nvSpPr>
        <p:spPr>
          <a:xfrm>
            <a:off x="320040" y="274320"/>
            <a:ext cx="8503920" cy="640080"/>
          </a:xfrm>
          <a:prstGeom prst="rect">
            <a:avLst/>
          </a:prstGeom>
          <a:noFill/>
          <a:ln/>
        </p:spPr>
        <p:txBody>
          <a:bodyPr wrap="square" lIns="0" tIns="0" rIns="0" bIns="0" rtlCol="0" anchor="ctr"/>
          <a:lstStyle/>
          <a:p>
            <a:pPr algn="l" indent="0" marL="0">
              <a:buNone/>
            </a:pPr>
            <a:r>
              <a:rPr lang="en-US" sz="2600" b="1" dirty="0">
                <a:solidFill>
                  <a:srgbClr val="1E2761"/>
                </a:solidFill>
                <a:latin typeface="Georgia" pitchFamily="34" charset="0"/>
                <a:ea typeface="Georgia" pitchFamily="34" charset="-122"/>
                <a:cs typeface="Georgia" pitchFamily="34" charset="-120"/>
              </a:rPr>
              <a:t>Zheng's Construction (SDSS1)</a:t>
            </a:r>
            <a:endParaRPr lang="en-US" sz="2600" dirty="0"/>
          </a:p>
        </p:txBody>
      </p:sp>
      <p:sp>
        <p:nvSpPr>
          <p:cNvPr id="6" name="Shape 4"/>
          <p:cNvSpPr/>
          <p:nvPr/>
        </p:nvSpPr>
        <p:spPr>
          <a:xfrm>
            <a:off x="457200" y="1143000"/>
            <a:ext cx="4114800" cy="2651760"/>
          </a:xfrm>
          <a:prstGeom prst="rect">
            <a:avLst/>
          </a:prstGeom>
          <a:solidFill>
            <a:srgbClr val="F8FAFF"/>
          </a:solidFill>
          <a:ln w="12700">
            <a:solidFill>
              <a:srgbClr val="1E2761"/>
            </a:solidFill>
            <a:prstDash val="solid"/>
          </a:ln>
        </p:spPr>
      </p:sp>
      <p:sp>
        <p:nvSpPr>
          <p:cNvPr id="7" name="Shape 5"/>
          <p:cNvSpPr/>
          <p:nvPr/>
        </p:nvSpPr>
        <p:spPr>
          <a:xfrm>
            <a:off x="457200" y="1143000"/>
            <a:ext cx="4114800" cy="365760"/>
          </a:xfrm>
          <a:prstGeom prst="rect">
            <a:avLst/>
          </a:prstGeom>
          <a:solidFill>
            <a:srgbClr val="1E2761"/>
          </a:solidFill>
          <a:ln/>
        </p:spPr>
      </p:sp>
      <p:sp>
        <p:nvSpPr>
          <p:cNvPr id="8" name="Text 6"/>
          <p:cNvSpPr/>
          <p:nvPr/>
        </p:nvSpPr>
        <p:spPr>
          <a:xfrm>
            <a:off x="457200" y="1143000"/>
            <a:ext cx="41148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Signcrypt (m; x_A, y_B)</a:t>
            </a:r>
            <a:endParaRPr lang="en-US" sz="1400" dirty="0"/>
          </a:p>
        </p:txBody>
      </p:sp>
      <p:sp>
        <p:nvSpPr>
          <p:cNvPr id="9" name="Text 7"/>
          <p:cNvSpPr/>
          <p:nvPr/>
        </p:nvSpPr>
        <p:spPr>
          <a:xfrm>
            <a:off x="640080" y="1645920"/>
            <a:ext cx="3749040" cy="2057400"/>
          </a:xfrm>
          <a:prstGeom prst="rect">
            <a:avLst/>
          </a:prstGeom>
          <a:noFill/>
          <a:ln/>
        </p:spPr>
        <p:txBody>
          <a:bodyPr wrap="square" rtlCol="0" anchor="t"/>
          <a:lstStyle/>
          <a:p>
            <a:pPr indent="0" marL="0">
              <a:buNone/>
            </a:pPr>
            <a:r>
              <a:rPr lang="en-US" sz="1200" b="1" dirty="0">
                <a:solidFill>
                  <a:srgbClr val="1E2761"/>
                </a:solidFill>
                <a:latin typeface="Consolas" pitchFamily="34" charset="0"/>
                <a:ea typeface="Consolas" pitchFamily="34" charset="-122"/>
                <a:cs typeface="Consolas" pitchFamily="34" charset="-120"/>
              </a:rPr>
              <a:t>1. </a:t>
            </a:r>
            <a:pPr indent="0" marL="0">
              <a:buNone/>
            </a:pPr>
            <a:r>
              <a:rPr lang="en-US" sz="1200" dirty="0">
                <a:solidFill>
                  <a:srgbClr val="2F3C4F"/>
                </a:solidFill>
                <a:latin typeface="Consolas" pitchFamily="34" charset="0"/>
                <a:ea typeface="Consolas" pitchFamily="34" charset="-122"/>
                <a:cs typeface="Consolas" pitchFamily="34" charset="-120"/>
              </a:rPr>
              <a:t>Pick x ← Z_q</a:t>
            </a:r>
            <a:endParaRPr lang="en-US" sz="1200" dirty="0"/>
          </a:p>
          <a:p>
            <a:pPr indent="0" marL="0">
              <a:buNone/>
            </a:pPr>
            <a:r>
              <a:rPr lang="en-US" sz="1200" dirty="0">
                <a:solidFill>
                  <a:srgbClr val="2F3C4F"/>
                </a:solidFill>
                <a:latin typeface="Consolas" pitchFamily="34" charset="0"/>
                <a:ea typeface="Consolas" pitchFamily="34" charset="-122"/>
                <a:cs typeface="Consolas" pitchFamily="34" charset="-120"/>
              </a:rPr>
              <a:t>    (k₁, k₂) ← H(y_B^x mod p)</a:t>
            </a:r>
            <a:endParaRPr lang="en-US" sz="1200" dirty="0"/>
          </a:p>
          <a:p>
            <a:pPr indent="0" marL="0">
              <a:buNone/>
            </a:pPr>
            <a:r>
              <a:rPr lang="en-US" sz="1200" b="1" dirty="0">
                <a:solidFill>
                  <a:srgbClr val="1E2761"/>
                </a:solidFill>
                <a:latin typeface="Consolas" pitchFamily="34" charset="0"/>
                <a:ea typeface="Consolas" pitchFamily="34" charset="-122"/>
                <a:cs typeface="Consolas" pitchFamily="34" charset="-120"/>
              </a:rPr>
              <a:t>2. </a:t>
            </a:r>
            <a:pPr indent="0" marL="0">
              <a:buNone/>
            </a:pPr>
            <a:r>
              <a:rPr lang="en-US" sz="1200" dirty="0">
                <a:solidFill>
                  <a:srgbClr val="2F3C4F"/>
                </a:solidFill>
                <a:latin typeface="Consolas" pitchFamily="34" charset="0"/>
                <a:ea typeface="Consolas" pitchFamily="34" charset="-122"/>
                <a:cs typeface="Consolas" pitchFamily="34" charset="-120"/>
              </a:rPr>
              <a:t>c ← E_{k₁}(m)</a:t>
            </a:r>
            <a:endParaRPr lang="en-US" sz="1200" dirty="0"/>
          </a:p>
          <a:p>
            <a:pPr indent="0" marL="0">
              <a:buNone/>
            </a:pPr>
            <a:r>
              <a:rPr lang="en-US" sz="1200" dirty="0">
                <a:solidFill>
                  <a:srgbClr val="2F3C4F"/>
                </a:solidFill>
                <a:latin typeface="Consolas" pitchFamily="34" charset="0"/>
                <a:ea typeface="Consolas" pitchFamily="34" charset="-122"/>
                <a:cs typeface="Consolas" pitchFamily="34" charset="-120"/>
              </a:rPr>
              <a:t>    r ← KH_{k₂}(m)</a:t>
            </a:r>
            <a:endParaRPr lang="en-US" sz="1200" dirty="0"/>
          </a:p>
          <a:p>
            <a:pPr indent="0" marL="0">
              <a:buNone/>
            </a:pPr>
            <a:r>
              <a:rPr lang="en-US" sz="1200" dirty="0">
                <a:solidFill>
                  <a:srgbClr val="2F3C4F"/>
                </a:solidFill>
                <a:latin typeface="Consolas" pitchFamily="34" charset="0"/>
                <a:ea typeface="Consolas" pitchFamily="34" charset="-122"/>
                <a:cs typeface="Consolas" pitchFamily="34" charset="-120"/>
              </a:rPr>
              <a:t>    s ← x / (r + x_A) mod q</a:t>
            </a:r>
            <a:endParaRPr lang="en-US" sz="1200" dirty="0"/>
          </a:p>
          <a:p>
            <a:pPr indent="0" marL="0">
              <a:buNone/>
            </a:pPr>
            <a:r>
              <a:rPr lang="en-US" sz="1200" b="1" dirty="0">
                <a:solidFill>
                  <a:srgbClr val="1E2761"/>
                </a:solidFill>
                <a:latin typeface="Consolas" pitchFamily="34" charset="0"/>
                <a:ea typeface="Consolas" pitchFamily="34" charset="-122"/>
                <a:cs typeface="Consolas" pitchFamily="34" charset="-120"/>
              </a:rPr>
              <a:t>3. </a:t>
            </a:r>
            <a:pPr indent="0" marL="0">
              <a:buNone/>
            </a:pPr>
            <a:r>
              <a:rPr lang="en-US" sz="1200" dirty="0">
                <a:solidFill>
                  <a:srgbClr val="2F3C4F"/>
                </a:solidFill>
                <a:latin typeface="Consolas" pitchFamily="34" charset="0"/>
                <a:ea typeface="Consolas" pitchFamily="34" charset="-122"/>
                <a:cs typeface="Consolas" pitchFamily="34" charset="-120"/>
              </a:rPr>
              <a:t>Return (c, r, s)</a:t>
            </a:r>
            <a:endParaRPr lang="en-US" sz="1200" dirty="0"/>
          </a:p>
        </p:txBody>
      </p:sp>
      <p:sp>
        <p:nvSpPr>
          <p:cNvPr id="10" name="Shape 8"/>
          <p:cNvSpPr/>
          <p:nvPr/>
        </p:nvSpPr>
        <p:spPr>
          <a:xfrm>
            <a:off x="4663440" y="1143000"/>
            <a:ext cx="4023360" cy="2651760"/>
          </a:xfrm>
          <a:prstGeom prst="rect">
            <a:avLst/>
          </a:prstGeom>
          <a:solidFill>
            <a:srgbClr val="F8FAFF"/>
          </a:solidFill>
          <a:ln w="12700">
            <a:solidFill>
              <a:srgbClr val="1E2761"/>
            </a:solidFill>
            <a:prstDash val="solid"/>
          </a:ln>
        </p:spPr>
      </p:sp>
      <p:sp>
        <p:nvSpPr>
          <p:cNvPr id="11" name="Shape 9"/>
          <p:cNvSpPr/>
          <p:nvPr/>
        </p:nvSpPr>
        <p:spPr>
          <a:xfrm>
            <a:off x="4663440" y="1143000"/>
            <a:ext cx="4023360" cy="365760"/>
          </a:xfrm>
          <a:prstGeom prst="rect">
            <a:avLst/>
          </a:prstGeom>
          <a:solidFill>
            <a:srgbClr val="1E2761"/>
          </a:solidFill>
          <a:ln/>
        </p:spPr>
      </p:sp>
      <p:sp>
        <p:nvSpPr>
          <p:cNvPr id="12" name="Text 10"/>
          <p:cNvSpPr/>
          <p:nvPr/>
        </p:nvSpPr>
        <p:spPr>
          <a:xfrm>
            <a:off x="4663440" y="1143000"/>
            <a:ext cx="40233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Unsigncrypt ((c,r,s); y_A, x_B)</a:t>
            </a:r>
            <a:endParaRPr lang="en-US" sz="1400" dirty="0"/>
          </a:p>
        </p:txBody>
      </p:sp>
      <p:sp>
        <p:nvSpPr>
          <p:cNvPr id="13" name="Text 11"/>
          <p:cNvSpPr/>
          <p:nvPr/>
        </p:nvSpPr>
        <p:spPr>
          <a:xfrm>
            <a:off x="4846320" y="1645920"/>
            <a:ext cx="3657600" cy="2057400"/>
          </a:xfrm>
          <a:prstGeom prst="rect">
            <a:avLst/>
          </a:prstGeom>
          <a:noFill/>
          <a:ln/>
        </p:spPr>
        <p:txBody>
          <a:bodyPr wrap="square" rtlCol="0" anchor="t"/>
          <a:lstStyle/>
          <a:p>
            <a:pPr indent="0" marL="0">
              <a:buNone/>
            </a:pPr>
            <a:r>
              <a:rPr lang="en-US" sz="1200" b="1" dirty="0">
                <a:solidFill>
                  <a:srgbClr val="1E2761"/>
                </a:solidFill>
                <a:latin typeface="Consolas" pitchFamily="34" charset="0"/>
                <a:ea typeface="Consolas" pitchFamily="34" charset="-122"/>
                <a:cs typeface="Consolas" pitchFamily="34" charset="-120"/>
              </a:rPr>
              <a:t>1. </a:t>
            </a:r>
            <a:pPr indent="0" marL="0">
              <a:buNone/>
            </a:pPr>
            <a:r>
              <a:rPr lang="en-US" sz="1200" dirty="0">
                <a:solidFill>
                  <a:srgbClr val="2F3C4F"/>
                </a:solidFill>
                <a:latin typeface="Consolas" pitchFamily="34" charset="0"/>
                <a:ea typeface="Consolas" pitchFamily="34" charset="-122"/>
                <a:cs typeface="Consolas" pitchFamily="34" charset="-120"/>
              </a:rPr>
              <a:t>(k₁, k₂) ←</a:t>
            </a:r>
            <a:endParaRPr lang="en-US" sz="1200" dirty="0"/>
          </a:p>
          <a:p>
            <a:pPr indent="0" marL="0">
              <a:buNone/>
            </a:pPr>
            <a:r>
              <a:rPr lang="en-US" sz="1200" dirty="0">
                <a:solidFill>
                  <a:srgbClr val="2F3C4F"/>
                </a:solidFill>
                <a:latin typeface="Consolas" pitchFamily="34" charset="0"/>
                <a:ea typeface="Consolas" pitchFamily="34" charset="-122"/>
                <a:cs typeface="Consolas" pitchFamily="34" charset="-120"/>
              </a:rPr>
              <a:t>    H((y_A · g^r)^{s·x_B} mod p)</a:t>
            </a:r>
            <a:endParaRPr lang="en-US" sz="1200" dirty="0"/>
          </a:p>
          <a:p>
            <a:pPr indent="0" marL="0">
              <a:buNone/>
            </a:pPr>
            <a:r>
              <a:rPr lang="en-US" sz="1200" b="1" dirty="0">
                <a:solidFill>
                  <a:srgbClr val="1E2761"/>
                </a:solidFill>
                <a:latin typeface="Consolas" pitchFamily="34" charset="0"/>
                <a:ea typeface="Consolas" pitchFamily="34" charset="-122"/>
                <a:cs typeface="Consolas" pitchFamily="34" charset="-120"/>
              </a:rPr>
              <a:t>2. </a:t>
            </a:r>
            <a:pPr indent="0" marL="0">
              <a:buNone/>
            </a:pPr>
            <a:r>
              <a:rPr lang="en-US" sz="1200" dirty="0">
                <a:solidFill>
                  <a:srgbClr val="2F3C4F"/>
                </a:solidFill>
                <a:latin typeface="Consolas" pitchFamily="34" charset="0"/>
                <a:ea typeface="Consolas" pitchFamily="34" charset="-122"/>
                <a:cs typeface="Consolas" pitchFamily="34" charset="-120"/>
              </a:rPr>
              <a:t>m ← D_{k₁}(c)</a:t>
            </a:r>
            <a:endParaRPr lang="en-US" sz="1200" dirty="0"/>
          </a:p>
          <a:p>
            <a:pPr indent="0" marL="0">
              <a:buNone/>
            </a:pPr>
            <a:r>
              <a:rPr lang="en-US" sz="1200" b="1" dirty="0">
                <a:solidFill>
                  <a:srgbClr val="1E2761"/>
                </a:solidFill>
                <a:latin typeface="Consolas" pitchFamily="34" charset="0"/>
                <a:ea typeface="Consolas" pitchFamily="34" charset="-122"/>
                <a:cs typeface="Consolas" pitchFamily="34" charset="-120"/>
              </a:rPr>
              <a:t>3. </a:t>
            </a:r>
            <a:pPr indent="0" marL="0">
              <a:buNone/>
            </a:pPr>
            <a:r>
              <a:rPr lang="en-US" sz="1200" dirty="0">
                <a:solidFill>
                  <a:srgbClr val="2F3C4F"/>
                </a:solidFill>
                <a:latin typeface="Consolas" pitchFamily="34" charset="0"/>
                <a:ea typeface="Consolas" pitchFamily="34" charset="-122"/>
                <a:cs typeface="Consolas" pitchFamily="34" charset="-120"/>
              </a:rPr>
              <a:t>Accept iff r = KH_{k₂}(m)</a:t>
            </a:r>
            <a:endParaRPr lang="en-US" sz="1200" dirty="0"/>
          </a:p>
        </p:txBody>
      </p:sp>
      <p:sp>
        <p:nvSpPr>
          <p:cNvPr id="14" name="Shape 12"/>
          <p:cNvSpPr/>
          <p:nvPr/>
        </p:nvSpPr>
        <p:spPr>
          <a:xfrm>
            <a:off x="457200" y="3977640"/>
            <a:ext cx="8229600" cy="731520"/>
          </a:xfrm>
          <a:prstGeom prst="rect">
            <a:avLst/>
          </a:prstGeom>
          <a:solidFill>
            <a:srgbClr val="F3ECD2"/>
          </a:solidFill>
          <a:ln w="12700">
            <a:solidFill>
              <a:srgbClr val="D4A017"/>
            </a:solidFill>
            <a:prstDash val="solid"/>
          </a:ln>
        </p:spPr>
      </p:sp>
      <p:sp>
        <p:nvSpPr>
          <p:cNvPr id="15" name="Text 13"/>
          <p:cNvSpPr/>
          <p:nvPr/>
        </p:nvSpPr>
        <p:spPr>
          <a:xfrm>
            <a:off x="640080" y="3977640"/>
            <a:ext cx="7863840" cy="7315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Key insight:  </a:t>
            </a:r>
            <a:pPr indent="0" marL="0">
              <a:buNone/>
            </a:pPr>
            <a:r>
              <a:rPr lang="en-US" sz="1300" dirty="0">
                <a:solidFill>
                  <a:srgbClr val="2F3C4F"/>
                </a:solidFill>
                <a:latin typeface="Calibri" pitchFamily="34" charset="0"/>
                <a:ea typeface="Calibri" pitchFamily="34" charset="-122"/>
                <a:cs typeface="Calibri" pitchFamily="34" charset="-120"/>
              </a:rPr>
              <a:t>The ephemeral </a:t>
            </a:r>
            <a:pPr indent="0" marL="0">
              <a:buNone/>
            </a:pPr>
            <a:r>
              <a:rPr lang="en-US" sz="1300" b="1" dirty="0">
                <a:solidFill>
                  <a:srgbClr val="1E2761"/>
                </a:solidFill>
                <a:latin typeface="Consolas" pitchFamily="34" charset="0"/>
                <a:ea typeface="Consolas" pitchFamily="34" charset="-122"/>
                <a:cs typeface="Consolas" pitchFamily="34" charset="-120"/>
              </a:rPr>
              <a:t>y_B^x </a:t>
            </a:r>
            <a:pPr indent="0" marL="0">
              <a:buNone/>
            </a:pPr>
            <a:r>
              <a:rPr lang="en-US" sz="1300" dirty="0">
                <a:solidFill>
                  <a:srgbClr val="2F3C4F"/>
                </a:solidFill>
                <a:latin typeface="Calibri" pitchFamily="34" charset="0"/>
                <a:ea typeface="Calibri" pitchFamily="34" charset="-122"/>
                <a:cs typeface="Calibri" pitchFamily="34" charset="-120"/>
              </a:rPr>
              <a:t>derives the symmetric key </a:t>
            </a:r>
            <a:pPr indent="0" marL="0">
              <a:buNone/>
            </a:pPr>
            <a:r>
              <a:rPr lang="en-US" sz="1300" i="1" dirty="0">
                <a:solidFill>
                  <a:srgbClr val="2F3C4F"/>
                </a:solidFill>
                <a:latin typeface="Calibri" pitchFamily="34" charset="0"/>
                <a:ea typeface="Calibri" pitchFamily="34" charset="-122"/>
                <a:cs typeface="Calibri" pitchFamily="34" charset="-120"/>
              </a:rPr>
              <a:t>and </a:t>
            </a:r>
            <a:pPr indent="0" marL="0">
              <a:buNone/>
            </a:pPr>
            <a:r>
              <a:rPr lang="en-US" sz="1300" dirty="0">
                <a:solidFill>
                  <a:srgbClr val="2F3C4F"/>
                </a:solidFill>
                <a:latin typeface="Calibri" pitchFamily="34" charset="0"/>
                <a:ea typeface="Calibri" pitchFamily="34" charset="-122"/>
                <a:cs typeface="Calibri" pitchFamily="34" charset="-120"/>
              </a:rPr>
              <a:t>binds the signature — one exponentiation does double duty.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E2761"/>
          </a:solidFill>
          <a:ln/>
        </p:spPr>
      </p:sp>
      <p:sp>
        <p:nvSpPr>
          <p:cNvPr id="3" name="Text 1"/>
          <p:cNvSpPr/>
          <p:nvPr/>
        </p:nvSpPr>
        <p:spPr>
          <a:xfrm>
            <a:off x="274320" y="4873752"/>
            <a:ext cx="6858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 Review of Signcryption  ·  BAHATI Justin  ·  MSE 9123</a:t>
            </a:r>
            <a:endParaRPr lang="en-US" sz="900" dirty="0"/>
          </a:p>
        </p:txBody>
      </p:sp>
      <p:sp>
        <p:nvSpPr>
          <p:cNvPr id="4" name="Text 2"/>
          <p:cNvSpPr/>
          <p:nvPr/>
        </p:nvSpPr>
        <p:spPr>
          <a:xfrm>
            <a:off x="7863840" y="4873752"/>
            <a:ext cx="100584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 / 14</a:t>
            </a:r>
            <a:endParaRPr lang="en-US" sz="900" dirty="0"/>
          </a:p>
        </p:txBody>
      </p:sp>
      <p:sp>
        <p:nvSpPr>
          <p:cNvPr id="5" name="Text 3"/>
          <p:cNvSpPr/>
          <p:nvPr/>
        </p:nvSpPr>
        <p:spPr>
          <a:xfrm>
            <a:off x="320040" y="274320"/>
            <a:ext cx="8503920" cy="640080"/>
          </a:xfrm>
          <a:prstGeom prst="rect">
            <a:avLst/>
          </a:prstGeom>
          <a:noFill/>
          <a:ln/>
        </p:spPr>
        <p:txBody>
          <a:bodyPr wrap="square" lIns="0" tIns="0" rIns="0" bIns="0" rtlCol="0" anchor="ctr"/>
          <a:lstStyle/>
          <a:p>
            <a:pPr algn="l" indent="0" marL="0">
              <a:buNone/>
            </a:pPr>
            <a:r>
              <a:rPr lang="en-US" sz="2600" b="1" dirty="0">
                <a:solidFill>
                  <a:srgbClr val="1E2761"/>
                </a:solidFill>
                <a:latin typeface="Georgia" pitchFamily="34" charset="0"/>
                <a:ea typeface="Georgia" pitchFamily="34" charset="-122"/>
                <a:cs typeface="Georgia" pitchFamily="34" charset="-120"/>
              </a:rPr>
              <a:t>From Informal Arguments to Canonical Proofs</a:t>
            </a:r>
            <a:endParaRPr lang="en-US" sz="2600" dirty="0"/>
          </a:p>
        </p:txBody>
      </p:sp>
      <p:sp>
        <p:nvSpPr>
          <p:cNvPr id="6" name="Shape 4"/>
          <p:cNvSpPr/>
          <p:nvPr/>
        </p:nvSpPr>
        <p:spPr>
          <a:xfrm>
            <a:off x="731520" y="2331720"/>
            <a:ext cx="7680960" cy="0"/>
          </a:xfrm>
          <a:prstGeom prst="line">
            <a:avLst/>
          </a:prstGeom>
          <a:noFill/>
          <a:ln w="25400">
            <a:solidFill>
              <a:srgbClr val="1E2761"/>
            </a:solidFill>
            <a:prstDash val="solid"/>
          </a:ln>
        </p:spPr>
      </p:sp>
      <p:sp>
        <p:nvSpPr>
          <p:cNvPr id="7" name="Shape 5"/>
          <p:cNvSpPr/>
          <p:nvPr/>
        </p:nvSpPr>
        <p:spPr>
          <a:xfrm>
            <a:off x="1261872" y="2221992"/>
            <a:ext cx="219456" cy="219456"/>
          </a:xfrm>
          <a:prstGeom prst="ellipse">
            <a:avLst/>
          </a:prstGeom>
          <a:solidFill>
            <a:srgbClr val="6B7280"/>
          </a:solidFill>
          <a:ln w="25400">
            <a:solidFill>
              <a:srgbClr val="FFFFFF"/>
            </a:solidFill>
            <a:prstDash val="solid"/>
          </a:ln>
        </p:spPr>
      </p:sp>
      <p:sp>
        <p:nvSpPr>
          <p:cNvPr id="8" name="Text 6"/>
          <p:cNvSpPr/>
          <p:nvPr/>
        </p:nvSpPr>
        <p:spPr>
          <a:xfrm>
            <a:off x="731520" y="1554480"/>
            <a:ext cx="1280160" cy="320040"/>
          </a:xfrm>
          <a:prstGeom prst="rect">
            <a:avLst/>
          </a:prstGeom>
          <a:noFill/>
          <a:ln/>
        </p:spPr>
        <p:txBody>
          <a:bodyPr wrap="square" rtlCol="0" anchor="ctr"/>
          <a:lstStyle/>
          <a:p>
            <a:pPr algn="ctr" indent="0" marL="0">
              <a:buNone/>
            </a:pPr>
            <a:r>
              <a:rPr lang="en-US" sz="1600" b="1" dirty="0">
                <a:solidFill>
                  <a:srgbClr val="6B7280"/>
                </a:solidFill>
                <a:latin typeface="Georgia" pitchFamily="34" charset="0"/>
                <a:ea typeface="Georgia" pitchFamily="34" charset="-122"/>
                <a:cs typeface="Georgia" pitchFamily="34" charset="-120"/>
              </a:rPr>
              <a:t>1997</a:t>
            </a:r>
            <a:endParaRPr lang="en-US" sz="1600" dirty="0"/>
          </a:p>
        </p:txBody>
      </p:sp>
      <p:sp>
        <p:nvSpPr>
          <p:cNvPr id="9" name="Text 7"/>
          <p:cNvSpPr/>
          <p:nvPr/>
        </p:nvSpPr>
        <p:spPr>
          <a:xfrm>
            <a:off x="457200" y="1188720"/>
            <a:ext cx="1828800" cy="365760"/>
          </a:xfrm>
          <a:prstGeom prst="rect">
            <a:avLst/>
          </a:prstGeom>
          <a:noFill/>
          <a:ln/>
        </p:spPr>
        <p:txBody>
          <a:bodyPr wrap="square" rtlCol="0" anchor="ctr"/>
          <a:lstStyle/>
          <a:p>
            <a:pPr algn="ctr" indent="0" marL="0">
              <a:buNone/>
            </a:pPr>
            <a:r>
              <a:rPr lang="en-US" sz="1400" dirty="0">
                <a:solidFill>
                  <a:srgbClr val="2F3C4F"/>
                </a:solidFill>
                <a:latin typeface="Georgia" pitchFamily="34" charset="0"/>
                <a:ea typeface="Georgia" pitchFamily="34" charset="-122"/>
                <a:cs typeface="Georgia" pitchFamily="34" charset="-120"/>
              </a:rPr>
              <a:t>Zheng</a:t>
            </a:r>
            <a:endParaRPr lang="en-US" sz="1400" dirty="0"/>
          </a:p>
        </p:txBody>
      </p:sp>
      <p:sp>
        <p:nvSpPr>
          <p:cNvPr id="10" name="Text 8"/>
          <p:cNvSpPr/>
          <p:nvPr/>
        </p:nvSpPr>
        <p:spPr>
          <a:xfrm>
            <a:off x="91440" y="2560320"/>
            <a:ext cx="2560320" cy="1097280"/>
          </a:xfrm>
          <a:prstGeom prst="rect">
            <a:avLst/>
          </a:prstGeom>
          <a:noFill/>
          <a:ln/>
        </p:spPr>
        <p:txBody>
          <a:bodyPr wrap="square" rtlCol="0" anchor="t"/>
          <a:lstStyle/>
          <a:p>
            <a:pPr algn="ctr" indent="0" marL="0">
              <a:buNone/>
            </a:pPr>
            <a:r>
              <a:rPr lang="en-US" sz="1100" dirty="0">
                <a:solidFill>
                  <a:srgbClr val="2F3C4F"/>
                </a:solidFill>
                <a:latin typeface="Calibri" pitchFamily="34" charset="0"/>
                <a:ea typeface="Calibri" pitchFamily="34" charset="-122"/>
                <a:cs typeface="Calibri" pitchFamily="34" charset="-120"/>
              </a:rPr>
              <a:t>Original scheme;</a:t>
            </a:r>
            <a:endParaRPr lang="en-US" sz="1100" dirty="0"/>
          </a:p>
          <a:p>
            <a:pPr algn="ctr" indent="0" marL="0">
              <a:buNone/>
            </a:pPr>
            <a:r>
              <a:rPr lang="en-US" sz="1100" dirty="0">
                <a:solidFill>
                  <a:srgbClr val="2F3C4F"/>
                </a:solidFill>
                <a:latin typeface="Calibri" pitchFamily="34" charset="0"/>
                <a:ea typeface="Calibri" pitchFamily="34" charset="-122"/>
                <a:cs typeface="Calibri" pitchFamily="34" charset="-120"/>
              </a:rPr>
              <a:t>only informal</a:t>
            </a:r>
            <a:endParaRPr lang="en-US" sz="1100" dirty="0"/>
          </a:p>
          <a:p>
            <a:pPr algn="ctr" indent="0" marL="0">
              <a:buNone/>
            </a:pPr>
            <a:r>
              <a:rPr lang="en-US" sz="1100" dirty="0">
                <a:solidFill>
                  <a:srgbClr val="2F3C4F"/>
                </a:solidFill>
                <a:latin typeface="Calibri" pitchFamily="34" charset="0"/>
                <a:ea typeface="Calibri" pitchFamily="34" charset="-122"/>
                <a:cs typeface="Calibri" pitchFamily="34" charset="-120"/>
              </a:rPr>
              <a:t>security argument</a:t>
            </a:r>
            <a:endParaRPr lang="en-US" sz="1100" dirty="0"/>
          </a:p>
        </p:txBody>
      </p:sp>
      <p:sp>
        <p:nvSpPr>
          <p:cNvPr id="11" name="Shape 9"/>
          <p:cNvSpPr/>
          <p:nvPr/>
        </p:nvSpPr>
        <p:spPr>
          <a:xfrm>
            <a:off x="4462272" y="2221992"/>
            <a:ext cx="219456" cy="219456"/>
          </a:xfrm>
          <a:prstGeom prst="ellipse">
            <a:avLst/>
          </a:prstGeom>
          <a:solidFill>
            <a:srgbClr val="3C5AA0"/>
          </a:solidFill>
          <a:ln w="25400">
            <a:solidFill>
              <a:srgbClr val="FFFFFF"/>
            </a:solidFill>
            <a:prstDash val="solid"/>
          </a:ln>
        </p:spPr>
      </p:sp>
      <p:sp>
        <p:nvSpPr>
          <p:cNvPr id="12" name="Text 10"/>
          <p:cNvSpPr/>
          <p:nvPr/>
        </p:nvSpPr>
        <p:spPr>
          <a:xfrm>
            <a:off x="3931920" y="1554480"/>
            <a:ext cx="1280160" cy="320040"/>
          </a:xfrm>
          <a:prstGeom prst="rect">
            <a:avLst/>
          </a:prstGeom>
          <a:noFill/>
          <a:ln/>
        </p:spPr>
        <p:txBody>
          <a:bodyPr wrap="square" rtlCol="0" anchor="ctr"/>
          <a:lstStyle/>
          <a:p>
            <a:pPr algn="ctr" indent="0" marL="0">
              <a:buNone/>
            </a:pPr>
            <a:r>
              <a:rPr lang="en-US" sz="1600" b="1" dirty="0">
                <a:solidFill>
                  <a:srgbClr val="3C5AA0"/>
                </a:solidFill>
                <a:latin typeface="Georgia" pitchFamily="34" charset="0"/>
                <a:ea typeface="Georgia" pitchFamily="34" charset="-122"/>
                <a:cs typeface="Georgia" pitchFamily="34" charset="-120"/>
              </a:rPr>
              <a:t>2002</a:t>
            </a:r>
            <a:endParaRPr lang="en-US" sz="1600" dirty="0"/>
          </a:p>
        </p:txBody>
      </p:sp>
      <p:sp>
        <p:nvSpPr>
          <p:cNvPr id="13" name="Text 11"/>
          <p:cNvSpPr/>
          <p:nvPr/>
        </p:nvSpPr>
        <p:spPr>
          <a:xfrm>
            <a:off x="3657600" y="1188720"/>
            <a:ext cx="1828800" cy="365760"/>
          </a:xfrm>
          <a:prstGeom prst="rect">
            <a:avLst/>
          </a:prstGeom>
          <a:noFill/>
          <a:ln/>
        </p:spPr>
        <p:txBody>
          <a:bodyPr wrap="square" rtlCol="0" anchor="ctr"/>
          <a:lstStyle/>
          <a:p>
            <a:pPr algn="ctr" indent="0" marL="0">
              <a:buNone/>
            </a:pPr>
            <a:r>
              <a:rPr lang="en-US" sz="1400" dirty="0">
                <a:solidFill>
                  <a:srgbClr val="2F3C4F"/>
                </a:solidFill>
                <a:latin typeface="Georgia" pitchFamily="34" charset="0"/>
                <a:ea typeface="Georgia" pitchFamily="34" charset="-122"/>
                <a:cs typeface="Georgia" pitchFamily="34" charset="-120"/>
              </a:rPr>
              <a:t>Baek · An</a:t>
            </a:r>
            <a:endParaRPr lang="en-US" sz="1400" dirty="0"/>
          </a:p>
        </p:txBody>
      </p:sp>
      <p:sp>
        <p:nvSpPr>
          <p:cNvPr id="14" name="Text 12"/>
          <p:cNvSpPr/>
          <p:nvPr/>
        </p:nvSpPr>
        <p:spPr>
          <a:xfrm>
            <a:off x="3291840" y="2560320"/>
            <a:ext cx="2560320" cy="1097280"/>
          </a:xfrm>
          <a:prstGeom prst="rect">
            <a:avLst/>
          </a:prstGeom>
          <a:noFill/>
          <a:ln/>
        </p:spPr>
        <p:txBody>
          <a:bodyPr wrap="square" rtlCol="0" anchor="t"/>
          <a:lstStyle/>
          <a:p>
            <a:pPr algn="ctr" indent="0" marL="0">
              <a:buNone/>
            </a:pPr>
            <a:r>
              <a:rPr lang="en-US" sz="1100" dirty="0">
                <a:solidFill>
                  <a:srgbClr val="2F3C4F"/>
                </a:solidFill>
                <a:latin typeface="Calibri" pitchFamily="34" charset="0"/>
                <a:ea typeface="Calibri" pitchFamily="34" charset="-122"/>
                <a:cs typeface="Calibri" pitchFamily="34" charset="-120"/>
              </a:rPr>
              <a:t>First formal models:</a:t>
            </a:r>
            <a:endParaRPr lang="en-US" sz="1100" dirty="0"/>
          </a:p>
          <a:p>
            <a:pPr algn="ctr" indent="0" marL="0">
              <a:buNone/>
            </a:pPr>
            <a:r>
              <a:rPr lang="en-US" sz="1100" dirty="0">
                <a:solidFill>
                  <a:srgbClr val="2F3C4F"/>
                </a:solidFill>
                <a:latin typeface="Calibri" pitchFamily="34" charset="0"/>
                <a:ea typeface="Calibri" pitchFamily="34" charset="-122"/>
                <a:cs typeface="Calibri" pitchFamily="34" charset="-120"/>
              </a:rPr>
              <a:t>IND-CCA2, EUF-CMA</a:t>
            </a:r>
            <a:endParaRPr lang="en-US" sz="1100" dirty="0"/>
          </a:p>
          <a:p>
            <a:pPr algn="ctr" indent="0" marL="0">
              <a:buNone/>
            </a:pPr>
            <a:r>
              <a:rPr lang="en-US" sz="1100" dirty="0">
                <a:solidFill>
                  <a:srgbClr val="2F3C4F"/>
                </a:solidFill>
                <a:latin typeface="Calibri" pitchFamily="34" charset="0"/>
                <a:ea typeface="Calibri" pitchFamily="34" charset="-122"/>
                <a:cs typeface="Calibri" pitchFamily="34" charset="-120"/>
              </a:rPr>
              <a:t>(random oracle)</a:t>
            </a:r>
            <a:endParaRPr lang="en-US" sz="1100" dirty="0"/>
          </a:p>
        </p:txBody>
      </p:sp>
      <p:sp>
        <p:nvSpPr>
          <p:cNvPr id="15" name="Shape 13"/>
          <p:cNvSpPr/>
          <p:nvPr/>
        </p:nvSpPr>
        <p:spPr>
          <a:xfrm>
            <a:off x="7662672" y="2221992"/>
            <a:ext cx="219456" cy="219456"/>
          </a:xfrm>
          <a:prstGeom prst="ellipse">
            <a:avLst/>
          </a:prstGeom>
          <a:solidFill>
            <a:srgbClr val="1E2761"/>
          </a:solidFill>
          <a:ln w="25400">
            <a:solidFill>
              <a:srgbClr val="FFFFFF"/>
            </a:solidFill>
            <a:prstDash val="solid"/>
          </a:ln>
        </p:spPr>
      </p:sp>
      <p:sp>
        <p:nvSpPr>
          <p:cNvPr id="16" name="Text 14"/>
          <p:cNvSpPr/>
          <p:nvPr/>
        </p:nvSpPr>
        <p:spPr>
          <a:xfrm>
            <a:off x="7132320" y="1554480"/>
            <a:ext cx="1280160" cy="320040"/>
          </a:xfrm>
          <a:prstGeom prst="rect">
            <a:avLst/>
          </a:prstGeom>
          <a:noFill/>
          <a:ln/>
        </p:spPr>
        <p:txBody>
          <a:bodyPr wrap="square" rtlCol="0" anchor="ctr"/>
          <a:lstStyle/>
          <a:p>
            <a:pPr algn="ctr" indent="0" marL="0">
              <a:buNone/>
            </a:pPr>
            <a:r>
              <a:rPr lang="en-US" sz="1600" b="1" dirty="0">
                <a:solidFill>
                  <a:srgbClr val="1E2761"/>
                </a:solidFill>
                <a:latin typeface="Georgia" pitchFamily="34" charset="0"/>
                <a:ea typeface="Georgia" pitchFamily="34" charset="-122"/>
                <a:cs typeface="Georgia" pitchFamily="34" charset="-120"/>
              </a:rPr>
              <a:t>2018</a:t>
            </a:r>
            <a:endParaRPr lang="en-US" sz="1600" dirty="0"/>
          </a:p>
        </p:txBody>
      </p:sp>
      <p:sp>
        <p:nvSpPr>
          <p:cNvPr id="17" name="Text 15"/>
          <p:cNvSpPr/>
          <p:nvPr/>
        </p:nvSpPr>
        <p:spPr>
          <a:xfrm>
            <a:off x="6858000" y="1188720"/>
            <a:ext cx="1828800" cy="365760"/>
          </a:xfrm>
          <a:prstGeom prst="rect">
            <a:avLst/>
          </a:prstGeom>
          <a:noFill/>
          <a:ln/>
        </p:spPr>
        <p:txBody>
          <a:bodyPr wrap="square" rtlCol="0" anchor="ctr"/>
          <a:lstStyle/>
          <a:p>
            <a:pPr algn="ctr" indent="0" marL="0">
              <a:buNone/>
            </a:pPr>
            <a:r>
              <a:rPr lang="en-US" sz="1400" dirty="0">
                <a:solidFill>
                  <a:srgbClr val="2F3C4F"/>
                </a:solidFill>
                <a:latin typeface="Georgia" pitchFamily="34" charset="0"/>
                <a:ea typeface="Georgia" pitchFamily="34" charset="-122"/>
                <a:cs typeface="Georgia" pitchFamily="34" charset="-120"/>
              </a:rPr>
              <a:t>Badertscher</a:t>
            </a:r>
            <a:endParaRPr lang="en-US" sz="1400" dirty="0"/>
          </a:p>
        </p:txBody>
      </p:sp>
      <p:sp>
        <p:nvSpPr>
          <p:cNvPr id="18" name="Text 16"/>
          <p:cNvSpPr/>
          <p:nvPr/>
        </p:nvSpPr>
        <p:spPr>
          <a:xfrm>
            <a:off x="6492240" y="2560320"/>
            <a:ext cx="2560320" cy="1097280"/>
          </a:xfrm>
          <a:prstGeom prst="rect">
            <a:avLst/>
          </a:prstGeom>
          <a:noFill/>
          <a:ln/>
        </p:spPr>
        <p:txBody>
          <a:bodyPr wrap="square" rtlCol="0" anchor="t"/>
          <a:lstStyle/>
          <a:p>
            <a:pPr algn="ctr" indent="0" marL="0">
              <a:buNone/>
            </a:pPr>
            <a:r>
              <a:rPr lang="en-US" sz="1100" dirty="0">
                <a:solidFill>
                  <a:srgbClr val="2F3C4F"/>
                </a:solidFill>
                <a:latin typeface="Calibri" pitchFamily="34" charset="0"/>
                <a:ea typeface="Calibri" pitchFamily="34" charset="-122"/>
                <a:cs typeface="Calibri" pitchFamily="34" charset="-120"/>
              </a:rPr>
              <a:t>Insider security</a:t>
            </a:r>
            <a:endParaRPr lang="en-US" sz="1100" dirty="0"/>
          </a:p>
          <a:p>
            <a:pPr algn="ctr" indent="0" marL="0">
              <a:buNone/>
            </a:pPr>
            <a:r>
              <a:rPr lang="en-US" sz="1100" dirty="0">
                <a:solidFill>
                  <a:srgbClr val="2F3C4F"/>
                </a:solidFill>
                <a:latin typeface="Calibri" pitchFamily="34" charset="0"/>
                <a:ea typeface="Calibri" pitchFamily="34" charset="-122"/>
                <a:cs typeface="Calibri" pitchFamily="34" charset="-120"/>
              </a:rPr>
              <a:t>proved canonical</a:t>
            </a:r>
            <a:endParaRPr lang="en-US" sz="1100" dirty="0"/>
          </a:p>
          <a:p>
            <a:pPr algn="ctr" indent="0" marL="0">
              <a:buNone/>
            </a:pPr>
            <a:r>
              <a:rPr lang="en-US" sz="1100" dirty="0">
                <a:solidFill>
                  <a:srgbClr val="2F3C4F"/>
                </a:solidFill>
                <a:latin typeface="Calibri" pitchFamily="34" charset="0"/>
                <a:ea typeface="Calibri" pitchFamily="34" charset="-122"/>
                <a:cs typeface="Calibri" pitchFamily="34" charset="-120"/>
              </a:rPr>
              <a:t>(constructive crypto)</a:t>
            </a:r>
            <a:endParaRPr lang="en-US" sz="1100" dirty="0"/>
          </a:p>
        </p:txBody>
      </p:sp>
      <p:sp>
        <p:nvSpPr>
          <p:cNvPr id="19" name="Shape 17"/>
          <p:cNvSpPr/>
          <p:nvPr/>
        </p:nvSpPr>
        <p:spPr>
          <a:xfrm>
            <a:off x="457200" y="3977640"/>
            <a:ext cx="8229600" cy="685800"/>
          </a:xfrm>
          <a:prstGeom prst="rect">
            <a:avLst/>
          </a:prstGeom>
          <a:solidFill>
            <a:srgbClr val="F3ECD2"/>
          </a:solidFill>
          <a:ln w="12700">
            <a:solidFill>
              <a:srgbClr val="D4A017"/>
            </a:solidFill>
            <a:prstDash val="solid"/>
          </a:ln>
        </p:spPr>
      </p:sp>
      <p:sp>
        <p:nvSpPr>
          <p:cNvPr id="20" name="Text 18"/>
          <p:cNvSpPr/>
          <p:nvPr/>
        </p:nvSpPr>
        <p:spPr>
          <a:xfrm>
            <a:off x="640080" y="3977640"/>
            <a:ext cx="7863840" cy="685800"/>
          </a:xfrm>
          <a:prstGeom prst="rect">
            <a:avLst/>
          </a:prstGeom>
          <a:noFill/>
          <a:ln/>
        </p:spPr>
        <p:txBody>
          <a:bodyPr wrap="square" lIns="0" tIns="0" rIns="0" bIns="0" rtlCol="0" anchor="ctr"/>
          <a:lstStyle/>
          <a:p>
            <a:pPr algn="ctr" indent="0" marL="0">
              <a:buNone/>
            </a:pPr>
            <a:r>
              <a:rPr lang="en-US" sz="1300" dirty="0">
                <a:solidFill>
                  <a:srgbClr val="2F3C4F"/>
                </a:solidFill>
                <a:latin typeface="Calibri" pitchFamily="34" charset="0"/>
                <a:ea typeface="Calibri" pitchFamily="34" charset="-122"/>
                <a:cs typeface="Calibri" pitchFamily="34" charset="-120"/>
              </a:rPr>
              <a:t>Every classical scheme's proof lives in the </a:t>
            </a:r>
            <a:pPr algn="ctr" indent="0" marL="0">
              <a:buNone/>
            </a:pPr>
            <a:r>
              <a:rPr lang="en-US" sz="1300" b="1" dirty="0">
                <a:solidFill>
                  <a:srgbClr val="1E2761"/>
                </a:solidFill>
                <a:latin typeface="Calibri" pitchFamily="34" charset="0"/>
                <a:ea typeface="Calibri" pitchFamily="34" charset="-122"/>
                <a:cs typeface="Calibri" pitchFamily="34" charset="-120"/>
              </a:rPr>
              <a:t>Random Oracle Model</a:t>
            </a:r>
            <a:pPr algn="ctr" indent="0" marL="0">
              <a:buNone/>
            </a:pPr>
            <a:r>
              <a:rPr lang="en-US" sz="1300" dirty="0">
                <a:solidFill>
                  <a:srgbClr val="2F3C4F"/>
                </a:solidFill>
                <a:latin typeface="Calibri" pitchFamily="34" charset="0"/>
                <a:ea typeface="Calibri" pitchFamily="34" charset="-122"/>
                <a:cs typeface="Calibri" pitchFamily="34" charset="-120"/>
              </a:rPr>
              <a:t> — an idealization that does not hold in practice.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E2761"/>
          </a:solidFill>
          <a:ln/>
        </p:spPr>
      </p:sp>
      <p:sp>
        <p:nvSpPr>
          <p:cNvPr id="3" name="Text 1"/>
          <p:cNvSpPr/>
          <p:nvPr/>
        </p:nvSpPr>
        <p:spPr>
          <a:xfrm>
            <a:off x="274320" y="4873752"/>
            <a:ext cx="6858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 Review of Signcryption  ·  BAHATI Justin  ·  MSE 9123</a:t>
            </a:r>
            <a:endParaRPr lang="en-US" sz="900" dirty="0"/>
          </a:p>
        </p:txBody>
      </p:sp>
      <p:sp>
        <p:nvSpPr>
          <p:cNvPr id="4" name="Text 2"/>
          <p:cNvSpPr/>
          <p:nvPr/>
        </p:nvSpPr>
        <p:spPr>
          <a:xfrm>
            <a:off x="7863840" y="4873752"/>
            <a:ext cx="100584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 / 14</a:t>
            </a:r>
            <a:endParaRPr lang="en-US" sz="900" dirty="0"/>
          </a:p>
        </p:txBody>
      </p:sp>
      <p:sp>
        <p:nvSpPr>
          <p:cNvPr id="5" name="Text 3"/>
          <p:cNvSpPr/>
          <p:nvPr/>
        </p:nvSpPr>
        <p:spPr>
          <a:xfrm>
            <a:off x="320040" y="274320"/>
            <a:ext cx="8503920" cy="640080"/>
          </a:xfrm>
          <a:prstGeom prst="rect">
            <a:avLst/>
          </a:prstGeom>
          <a:noFill/>
          <a:ln/>
        </p:spPr>
        <p:txBody>
          <a:bodyPr wrap="square" lIns="0" tIns="0" rIns="0" bIns="0" rtlCol="0" anchor="ctr"/>
          <a:lstStyle/>
          <a:p>
            <a:pPr algn="l" indent="0" marL="0">
              <a:buNone/>
            </a:pPr>
            <a:r>
              <a:rPr lang="en-US" sz="2600" b="1" dirty="0">
                <a:solidFill>
                  <a:srgbClr val="1E2761"/>
                </a:solidFill>
                <a:latin typeface="Georgia" pitchFamily="34" charset="0"/>
                <a:ea typeface="Georgia" pitchFamily="34" charset="-122"/>
                <a:cs typeface="Georgia" pitchFamily="34" charset="-120"/>
              </a:rPr>
              <a:t>Why Naive Composition Fails: The EtS Attack</a:t>
            </a:r>
            <a:endParaRPr lang="en-US" sz="2600" dirty="0"/>
          </a:p>
        </p:txBody>
      </p:sp>
      <p:sp>
        <p:nvSpPr>
          <p:cNvPr id="6" name="Shape 4"/>
          <p:cNvSpPr/>
          <p:nvPr/>
        </p:nvSpPr>
        <p:spPr>
          <a:xfrm>
            <a:off x="1143000" y="1600200"/>
            <a:ext cx="1005840" cy="1005840"/>
          </a:xfrm>
          <a:prstGeom prst="ellipse">
            <a:avLst/>
          </a:prstGeom>
          <a:solidFill>
            <a:srgbClr val="FFFFFF"/>
          </a:solidFill>
          <a:ln w="31750">
            <a:solidFill>
              <a:srgbClr val="1E2761"/>
            </a:solidFill>
            <a:prstDash val="solid"/>
          </a:ln>
        </p:spPr>
      </p:sp>
      <p:sp>
        <p:nvSpPr>
          <p:cNvPr id="7" name="Text 5"/>
          <p:cNvSpPr/>
          <p:nvPr/>
        </p:nvSpPr>
        <p:spPr>
          <a:xfrm>
            <a:off x="1143000" y="1600200"/>
            <a:ext cx="1005840" cy="1005840"/>
          </a:xfrm>
          <a:prstGeom prst="rect">
            <a:avLst/>
          </a:prstGeom>
          <a:noFill/>
          <a:ln/>
        </p:spPr>
        <p:txBody>
          <a:bodyPr wrap="square" lIns="0" tIns="0" rIns="0" bIns="0" rtlCol="0" anchor="ctr"/>
          <a:lstStyle/>
          <a:p>
            <a:pPr algn="ctr" indent="0" marL="0">
              <a:buNone/>
            </a:pPr>
            <a:r>
              <a:rPr lang="en-US" sz="1600" b="1" dirty="0">
                <a:solidFill>
                  <a:srgbClr val="1E2761"/>
                </a:solidFill>
                <a:latin typeface="Georgia" pitchFamily="34" charset="0"/>
                <a:ea typeface="Georgia" pitchFamily="34" charset="-122"/>
                <a:cs typeface="Georgia" pitchFamily="34" charset="-120"/>
              </a:rPr>
              <a:t>Alice</a:t>
            </a:r>
            <a:endParaRPr lang="en-US" sz="1600" dirty="0"/>
          </a:p>
        </p:txBody>
      </p:sp>
      <p:sp>
        <p:nvSpPr>
          <p:cNvPr id="8" name="Shape 6"/>
          <p:cNvSpPr/>
          <p:nvPr/>
        </p:nvSpPr>
        <p:spPr>
          <a:xfrm>
            <a:off x="4069080" y="1600200"/>
            <a:ext cx="1005840" cy="1005840"/>
          </a:xfrm>
          <a:prstGeom prst="ellipse">
            <a:avLst/>
          </a:prstGeom>
          <a:solidFill>
            <a:srgbClr val="FFFFFF"/>
          </a:solidFill>
          <a:ln w="31750">
            <a:solidFill>
              <a:srgbClr val="B85042"/>
            </a:solidFill>
            <a:prstDash val="solid"/>
          </a:ln>
        </p:spPr>
      </p:sp>
      <p:sp>
        <p:nvSpPr>
          <p:cNvPr id="9" name="Text 7"/>
          <p:cNvSpPr/>
          <p:nvPr/>
        </p:nvSpPr>
        <p:spPr>
          <a:xfrm>
            <a:off x="4069080" y="1600200"/>
            <a:ext cx="1005840" cy="1005840"/>
          </a:xfrm>
          <a:prstGeom prst="rect">
            <a:avLst/>
          </a:prstGeom>
          <a:noFill/>
          <a:ln/>
        </p:spPr>
        <p:txBody>
          <a:bodyPr wrap="square" lIns="0" tIns="0" rIns="0" bIns="0" rtlCol="0" anchor="ctr"/>
          <a:lstStyle/>
          <a:p>
            <a:pPr algn="ctr" indent="0" marL="0">
              <a:buNone/>
            </a:pPr>
            <a:r>
              <a:rPr lang="en-US" sz="1600" b="1" dirty="0">
                <a:solidFill>
                  <a:srgbClr val="B85042"/>
                </a:solidFill>
                <a:latin typeface="Georgia" pitchFamily="34" charset="0"/>
                <a:ea typeface="Georgia" pitchFamily="34" charset="-122"/>
                <a:cs typeface="Georgia" pitchFamily="34" charset="-120"/>
              </a:rPr>
              <a:t>Eve</a:t>
            </a:r>
            <a:endParaRPr lang="en-US" sz="1600" dirty="0"/>
          </a:p>
        </p:txBody>
      </p:sp>
      <p:sp>
        <p:nvSpPr>
          <p:cNvPr id="10" name="Shape 8"/>
          <p:cNvSpPr/>
          <p:nvPr/>
        </p:nvSpPr>
        <p:spPr>
          <a:xfrm>
            <a:off x="6995160" y="1600200"/>
            <a:ext cx="1005840" cy="1005840"/>
          </a:xfrm>
          <a:prstGeom prst="ellipse">
            <a:avLst/>
          </a:prstGeom>
          <a:solidFill>
            <a:srgbClr val="FFFFFF"/>
          </a:solidFill>
          <a:ln w="31750">
            <a:solidFill>
              <a:srgbClr val="1E2761"/>
            </a:solidFill>
            <a:prstDash val="solid"/>
          </a:ln>
        </p:spPr>
      </p:sp>
      <p:sp>
        <p:nvSpPr>
          <p:cNvPr id="11" name="Text 9"/>
          <p:cNvSpPr/>
          <p:nvPr/>
        </p:nvSpPr>
        <p:spPr>
          <a:xfrm>
            <a:off x="6995160" y="1600200"/>
            <a:ext cx="1005840" cy="1005840"/>
          </a:xfrm>
          <a:prstGeom prst="rect">
            <a:avLst/>
          </a:prstGeom>
          <a:noFill/>
          <a:ln/>
        </p:spPr>
        <p:txBody>
          <a:bodyPr wrap="square" lIns="0" tIns="0" rIns="0" bIns="0" rtlCol="0" anchor="ctr"/>
          <a:lstStyle/>
          <a:p>
            <a:pPr algn="ctr" indent="0" marL="0">
              <a:buNone/>
            </a:pPr>
            <a:r>
              <a:rPr lang="en-US" sz="1600" b="1" dirty="0">
                <a:solidFill>
                  <a:srgbClr val="1E2761"/>
                </a:solidFill>
                <a:latin typeface="Georgia" pitchFamily="34" charset="0"/>
                <a:ea typeface="Georgia" pitchFamily="34" charset="-122"/>
                <a:cs typeface="Georgia" pitchFamily="34" charset="-120"/>
              </a:rPr>
              <a:t>Bob</a:t>
            </a:r>
            <a:endParaRPr lang="en-US" sz="1600" dirty="0"/>
          </a:p>
        </p:txBody>
      </p:sp>
      <p:sp>
        <p:nvSpPr>
          <p:cNvPr id="12" name="Shape 10"/>
          <p:cNvSpPr/>
          <p:nvPr/>
        </p:nvSpPr>
        <p:spPr>
          <a:xfrm>
            <a:off x="2194560" y="2103120"/>
            <a:ext cx="1874520" cy="0"/>
          </a:xfrm>
          <a:prstGeom prst="line">
            <a:avLst/>
          </a:prstGeom>
          <a:noFill/>
          <a:ln w="19050">
            <a:solidFill>
              <a:srgbClr val="1E2761"/>
            </a:solidFill>
            <a:prstDash val="solid"/>
            <a:tailEnd type="triangle"/>
          </a:ln>
        </p:spPr>
      </p:sp>
      <p:sp>
        <p:nvSpPr>
          <p:cNvPr id="13" name="Shape 11"/>
          <p:cNvSpPr/>
          <p:nvPr/>
        </p:nvSpPr>
        <p:spPr>
          <a:xfrm>
            <a:off x="5120640" y="2103120"/>
            <a:ext cx="1874520" cy="0"/>
          </a:xfrm>
          <a:prstGeom prst="line">
            <a:avLst/>
          </a:prstGeom>
          <a:noFill/>
          <a:ln w="19050">
            <a:solidFill>
              <a:srgbClr val="B85042"/>
            </a:solidFill>
            <a:prstDash val="solid"/>
            <a:tailEnd type="triangle"/>
          </a:ln>
        </p:spPr>
      </p:sp>
      <p:sp>
        <p:nvSpPr>
          <p:cNvPr id="14" name="Text 12"/>
          <p:cNvSpPr/>
          <p:nvPr/>
        </p:nvSpPr>
        <p:spPr>
          <a:xfrm>
            <a:off x="2194560" y="1783080"/>
            <a:ext cx="1874520" cy="274320"/>
          </a:xfrm>
          <a:prstGeom prst="rect">
            <a:avLst/>
          </a:prstGeom>
          <a:noFill/>
          <a:ln/>
        </p:spPr>
        <p:txBody>
          <a:bodyPr wrap="square" rtlCol="0" anchor="ctr"/>
          <a:lstStyle/>
          <a:p>
            <a:pPr algn="ctr" indent="0" marL="0">
              <a:buNone/>
            </a:pPr>
            <a:r>
              <a:rPr lang="en-US" sz="1200" dirty="0">
                <a:solidFill>
                  <a:srgbClr val="1E2761"/>
                </a:solidFill>
                <a:latin typeface="Consolas" pitchFamily="34" charset="0"/>
                <a:ea typeface="Consolas" pitchFamily="34" charset="-122"/>
                <a:cs typeface="Consolas" pitchFamily="34" charset="-120"/>
              </a:rPr>
              <a:t>(c, σ_A)</a:t>
            </a:r>
            <a:endParaRPr lang="en-US" sz="1200" dirty="0"/>
          </a:p>
        </p:txBody>
      </p:sp>
      <p:sp>
        <p:nvSpPr>
          <p:cNvPr id="15" name="Text 13"/>
          <p:cNvSpPr/>
          <p:nvPr/>
        </p:nvSpPr>
        <p:spPr>
          <a:xfrm>
            <a:off x="5120640" y="1783080"/>
            <a:ext cx="1874520" cy="274320"/>
          </a:xfrm>
          <a:prstGeom prst="rect">
            <a:avLst/>
          </a:prstGeom>
          <a:noFill/>
          <a:ln/>
        </p:spPr>
        <p:txBody>
          <a:bodyPr wrap="square" rtlCol="0" anchor="ctr"/>
          <a:lstStyle/>
          <a:p>
            <a:pPr algn="ctr" indent="0" marL="0">
              <a:buNone/>
            </a:pPr>
            <a:r>
              <a:rPr lang="en-US" sz="1200" dirty="0">
                <a:solidFill>
                  <a:srgbClr val="B85042"/>
                </a:solidFill>
                <a:latin typeface="Consolas" pitchFamily="34" charset="0"/>
                <a:ea typeface="Consolas" pitchFamily="34" charset="-122"/>
                <a:cs typeface="Consolas" pitchFamily="34" charset="-120"/>
              </a:rPr>
              <a:t>(c, σ_E)</a:t>
            </a:r>
            <a:endParaRPr lang="en-US" sz="1200" dirty="0"/>
          </a:p>
        </p:txBody>
      </p:sp>
      <p:sp>
        <p:nvSpPr>
          <p:cNvPr id="16" name="Text 14"/>
          <p:cNvSpPr/>
          <p:nvPr/>
        </p:nvSpPr>
        <p:spPr>
          <a:xfrm>
            <a:off x="822960" y="2697480"/>
            <a:ext cx="1645920" cy="640080"/>
          </a:xfrm>
          <a:prstGeom prst="rect">
            <a:avLst/>
          </a:prstGeom>
          <a:noFill/>
          <a:ln/>
        </p:spPr>
        <p:txBody>
          <a:bodyPr wrap="square"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Encrypts m,</a:t>
            </a:r>
            <a:endParaRPr lang="en-US" sz="1100" dirty="0"/>
          </a:p>
          <a:p>
            <a:pPr algn="ctr" indent="0" marL="0">
              <a:buNone/>
            </a:pPr>
            <a:r>
              <a:rPr lang="en-US" sz="1100" dirty="0">
                <a:solidFill>
                  <a:srgbClr val="6B7280"/>
                </a:solidFill>
                <a:latin typeface="Calibri" pitchFamily="34" charset="0"/>
                <a:ea typeface="Calibri" pitchFamily="34" charset="-122"/>
                <a:cs typeface="Calibri" pitchFamily="34" charset="-120"/>
              </a:rPr>
              <a:t>signs with sk_A</a:t>
            </a:r>
            <a:endParaRPr lang="en-US" sz="1100" dirty="0"/>
          </a:p>
        </p:txBody>
      </p:sp>
      <p:sp>
        <p:nvSpPr>
          <p:cNvPr id="17" name="Text 15"/>
          <p:cNvSpPr/>
          <p:nvPr/>
        </p:nvSpPr>
        <p:spPr>
          <a:xfrm>
            <a:off x="3749040" y="2697480"/>
            <a:ext cx="1645920" cy="640080"/>
          </a:xfrm>
          <a:prstGeom prst="rect">
            <a:avLst/>
          </a:prstGeom>
          <a:noFill/>
          <a:ln/>
        </p:spPr>
        <p:txBody>
          <a:bodyPr wrap="square" rtlCol="0" anchor="ctr"/>
          <a:lstStyle/>
          <a:p>
            <a:pPr algn="ctr" indent="0" marL="0">
              <a:buNone/>
            </a:pPr>
            <a:r>
              <a:rPr lang="en-US" sz="1100" i="1" dirty="0">
                <a:solidFill>
                  <a:srgbClr val="B85042"/>
                </a:solidFill>
                <a:latin typeface="Calibri" pitchFamily="34" charset="0"/>
                <a:ea typeface="Calibri" pitchFamily="34" charset="-122"/>
                <a:cs typeface="Calibri" pitchFamily="34" charset="-120"/>
              </a:rPr>
              <a:t>Strips σ_A,</a:t>
            </a:r>
            <a:endParaRPr lang="en-US" sz="1100" dirty="0"/>
          </a:p>
          <a:p>
            <a:pPr algn="ctr" indent="0" marL="0">
              <a:buNone/>
            </a:pPr>
            <a:r>
              <a:rPr lang="en-US" sz="1100" i="1" dirty="0">
                <a:solidFill>
                  <a:srgbClr val="B85042"/>
                </a:solidFill>
                <a:latin typeface="Calibri" pitchFamily="34" charset="0"/>
                <a:ea typeface="Calibri" pitchFamily="34" charset="-122"/>
                <a:cs typeface="Calibri" pitchFamily="34" charset="-120"/>
              </a:rPr>
              <a:t>re-signs as σ_E</a:t>
            </a:r>
            <a:endParaRPr lang="en-US" sz="1100" dirty="0"/>
          </a:p>
        </p:txBody>
      </p:sp>
      <p:sp>
        <p:nvSpPr>
          <p:cNvPr id="18" name="Text 16"/>
          <p:cNvSpPr/>
          <p:nvPr/>
        </p:nvSpPr>
        <p:spPr>
          <a:xfrm>
            <a:off x="6629400" y="2697480"/>
            <a:ext cx="1737360" cy="914400"/>
          </a:xfrm>
          <a:prstGeom prst="rect">
            <a:avLst/>
          </a:prstGeom>
          <a:noFill/>
          <a:ln/>
        </p:spPr>
        <p:txBody>
          <a:bodyPr wrap="square"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Decrypts c,</a:t>
            </a:r>
            <a:endParaRPr lang="en-US" sz="1100" dirty="0"/>
          </a:p>
          <a:p>
            <a:pPr algn="ctr" indent="0" marL="0">
              <a:buNone/>
            </a:pPr>
            <a:r>
              <a:rPr lang="en-US" sz="1100" dirty="0">
                <a:solidFill>
                  <a:srgbClr val="6B7280"/>
                </a:solidFill>
                <a:latin typeface="Calibri" pitchFamily="34" charset="0"/>
                <a:ea typeface="Calibri" pitchFamily="34" charset="-122"/>
                <a:cs typeface="Calibri" pitchFamily="34" charset="-120"/>
              </a:rPr>
              <a:t>verifies σ_E ✓</a:t>
            </a:r>
            <a:endParaRPr lang="en-US" sz="1100" dirty="0"/>
          </a:p>
          <a:p>
            <a:pPr algn="ctr" indent="0" marL="0">
              <a:buNone/>
            </a:pPr>
            <a:r>
              <a:rPr lang="en-US" sz="1100" dirty="0">
                <a:solidFill>
                  <a:srgbClr val="6B7280"/>
                </a:solidFill>
                <a:latin typeface="Calibri" pitchFamily="34" charset="0"/>
                <a:ea typeface="Calibri" pitchFamily="34" charset="-122"/>
                <a:cs typeface="Calibri" pitchFamily="34" charset="-120"/>
              </a:rPr>
              <a:t>believes Eve sent m!</a:t>
            </a:r>
            <a:endParaRPr lang="en-US" sz="1100" dirty="0"/>
          </a:p>
        </p:txBody>
      </p:sp>
      <p:sp>
        <p:nvSpPr>
          <p:cNvPr id="19" name="Shape 17"/>
          <p:cNvSpPr/>
          <p:nvPr/>
        </p:nvSpPr>
        <p:spPr>
          <a:xfrm>
            <a:off x="457200" y="4023360"/>
            <a:ext cx="8229600" cy="640080"/>
          </a:xfrm>
          <a:prstGeom prst="rect">
            <a:avLst/>
          </a:prstGeom>
          <a:solidFill>
            <a:srgbClr val="1E2761"/>
          </a:solidFill>
          <a:ln/>
        </p:spPr>
      </p:sp>
      <p:sp>
        <p:nvSpPr>
          <p:cNvPr id="20" name="Text 18"/>
          <p:cNvSpPr/>
          <p:nvPr/>
        </p:nvSpPr>
        <p:spPr>
          <a:xfrm>
            <a:off x="457200" y="4023360"/>
            <a:ext cx="8229600" cy="640080"/>
          </a:xfrm>
          <a:prstGeom prst="rect">
            <a:avLst/>
          </a:prstGeom>
          <a:noFill/>
          <a:ln/>
        </p:spPr>
        <p:txBody>
          <a:bodyPr wrap="square" lIns="0" tIns="0" rIns="0" bIns="0" rtlCol="0" anchor="ctr"/>
          <a:lstStyle/>
          <a:p>
            <a:pPr algn="ctr" indent="0" marL="0">
              <a:buNone/>
            </a:pPr>
            <a:r>
              <a:rPr lang="en-US" sz="1500" i="1" dirty="0">
                <a:solidFill>
                  <a:srgbClr val="FFFFFF"/>
                </a:solidFill>
                <a:latin typeface="Georgia" pitchFamily="34" charset="0"/>
                <a:ea typeface="Georgia" pitchFamily="34" charset="-122"/>
                <a:cs typeface="Georgia" pitchFamily="34" charset="-120"/>
              </a:rPr>
              <a:t>Signcryption isn't just StE optimized — it provides qualitatively different security.</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E2761"/>
          </a:solidFill>
          <a:ln/>
        </p:spPr>
      </p:sp>
      <p:sp>
        <p:nvSpPr>
          <p:cNvPr id="3" name="Text 1"/>
          <p:cNvSpPr/>
          <p:nvPr/>
        </p:nvSpPr>
        <p:spPr>
          <a:xfrm>
            <a:off x="274320" y="4873752"/>
            <a:ext cx="6858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 Review of Signcryption  ·  BAHATI Justin  ·  MSE 9123</a:t>
            </a:r>
            <a:endParaRPr lang="en-US" sz="900" dirty="0"/>
          </a:p>
        </p:txBody>
      </p:sp>
      <p:sp>
        <p:nvSpPr>
          <p:cNvPr id="4" name="Text 2"/>
          <p:cNvSpPr/>
          <p:nvPr/>
        </p:nvSpPr>
        <p:spPr>
          <a:xfrm>
            <a:off x="7863840" y="4873752"/>
            <a:ext cx="100584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 / 14</a:t>
            </a:r>
            <a:endParaRPr lang="en-US" sz="900" dirty="0"/>
          </a:p>
        </p:txBody>
      </p:sp>
      <p:sp>
        <p:nvSpPr>
          <p:cNvPr id="5" name="Text 3"/>
          <p:cNvSpPr/>
          <p:nvPr/>
        </p:nvSpPr>
        <p:spPr>
          <a:xfrm>
            <a:off x="320040" y="274320"/>
            <a:ext cx="8503920" cy="640080"/>
          </a:xfrm>
          <a:prstGeom prst="rect">
            <a:avLst/>
          </a:prstGeom>
          <a:noFill/>
          <a:ln/>
        </p:spPr>
        <p:txBody>
          <a:bodyPr wrap="square" lIns="0" tIns="0" rIns="0" bIns="0" rtlCol="0" anchor="ctr"/>
          <a:lstStyle/>
          <a:p>
            <a:pPr algn="l" indent="0" marL="0">
              <a:buNone/>
            </a:pPr>
            <a:r>
              <a:rPr lang="en-US" sz="2600" b="1" dirty="0">
                <a:solidFill>
                  <a:srgbClr val="1E2761"/>
                </a:solidFill>
                <a:latin typeface="Georgia" pitchFamily="34" charset="0"/>
                <a:ea typeface="Georgia" pitchFamily="34" charset="-122"/>
                <a:cs typeface="Georgia" pitchFamily="34" charset="-120"/>
              </a:rPr>
              <a:t>ID-Based Signcryption: A Cautionary Tale</a:t>
            </a:r>
            <a:endParaRPr lang="en-US" sz="2600" dirty="0"/>
          </a:p>
        </p:txBody>
      </p:sp>
      <p:sp>
        <p:nvSpPr>
          <p:cNvPr id="6" name="Shape 4"/>
          <p:cNvSpPr/>
          <p:nvPr/>
        </p:nvSpPr>
        <p:spPr>
          <a:xfrm>
            <a:off x="457200" y="1097280"/>
            <a:ext cx="1005840" cy="777240"/>
          </a:xfrm>
          <a:prstGeom prst="rect">
            <a:avLst/>
          </a:prstGeom>
          <a:solidFill>
            <a:srgbClr val="3C5AA0"/>
          </a:solidFill>
          <a:ln/>
        </p:spPr>
      </p:sp>
      <p:sp>
        <p:nvSpPr>
          <p:cNvPr id="7" name="Text 5"/>
          <p:cNvSpPr/>
          <p:nvPr/>
        </p:nvSpPr>
        <p:spPr>
          <a:xfrm>
            <a:off x="457200" y="1097280"/>
            <a:ext cx="1005840" cy="77724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2002</a:t>
            </a:r>
            <a:endParaRPr lang="en-US" sz="1800" dirty="0"/>
          </a:p>
        </p:txBody>
      </p:sp>
      <p:sp>
        <p:nvSpPr>
          <p:cNvPr id="8" name="Shape 6"/>
          <p:cNvSpPr/>
          <p:nvPr/>
        </p:nvSpPr>
        <p:spPr>
          <a:xfrm>
            <a:off x="1463040" y="1097280"/>
            <a:ext cx="7223760" cy="777240"/>
          </a:xfrm>
          <a:prstGeom prst="rect">
            <a:avLst/>
          </a:prstGeom>
          <a:solidFill>
            <a:srgbClr val="F8FAFF"/>
          </a:solidFill>
          <a:ln w="12700">
            <a:solidFill>
              <a:srgbClr val="D5DEEF"/>
            </a:solidFill>
            <a:prstDash val="solid"/>
          </a:ln>
        </p:spPr>
      </p:sp>
      <p:sp>
        <p:nvSpPr>
          <p:cNvPr id="9" name="Text 7"/>
          <p:cNvSpPr/>
          <p:nvPr/>
        </p:nvSpPr>
        <p:spPr>
          <a:xfrm>
            <a:off x="1645920" y="1152144"/>
            <a:ext cx="6949440" cy="320040"/>
          </a:xfrm>
          <a:prstGeom prst="rect">
            <a:avLst/>
          </a:prstGeom>
          <a:noFill/>
          <a:ln/>
        </p:spPr>
        <p:txBody>
          <a:bodyPr wrap="square" lIns="0" tIns="0" rIns="0" bIns="0" rtlCol="0" anchor="ctr"/>
          <a:lstStyle/>
          <a:p>
            <a:pPr indent="0" marL="0">
              <a:buNone/>
            </a:pPr>
            <a:r>
              <a:rPr lang="en-US" sz="1400" b="1" dirty="0">
                <a:solidFill>
                  <a:srgbClr val="3C5AA0"/>
                </a:solidFill>
                <a:latin typeface="Georgia" pitchFamily="34" charset="0"/>
                <a:ea typeface="Georgia" pitchFamily="34" charset="-122"/>
                <a:cs typeface="Georgia" pitchFamily="34" charset="-120"/>
              </a:rPr>
              <a:t>Malone-Lee</a:t>
            </a:r>
            <a:endParaRPr lang="en-US" sz="1400" dirty="0"/>
          </a:p>
        </p:txBody>
      </p:sp>
      <p:sp>
        <p:nvSpPr>
          <p:cNvPr id="10" name="Text 8"/>
          <p:cNvSpPr/>
          <p:nvPr/>
        </p:nvSpPr>
        <p:spPr>
          <a:xfrm>
            <a:off x="1645920" y="1481328"/>
            <a:ext cx="6949440" cy="374904"/>
          </a:xfrm>
          <a:prstGeom prst="rect">
            <a:avLst/>
          </a:prstGeom>
          <a:noFill/>
          <a:ln/>
        </p:spPr>
        <p:txBody>
          <a:bodyPr wrap="square" lIns="0" tIns="0" rIns="0" bIns="0" rtlCol="0" anchor="t"/>
          <a:lstStyle/>
          <a:p>
            <a:pPr indent="0" marL="0">
              <a:buNone/>
            </a:pPr>
            <a:r>
              <a:rPr lang="en-US" sz="1100" dirty="0">
                <a:solidFill>
                  <a:srgbClr val="2F3C4F"/>
                </a:solidFill>
                <a:latin typeface="Calibri" pitchFamily="34" charset="0"/>
                <a:ea typeface="Calibri" pitchFamily="34" charset="-122"/>
                <a:cs typeface="Calibri" pitchFamily="34" charset="-120"/>
              </a:rPr>
              <a:t>First IBSC scheme using bilinear pairings (BDH)</a:t>
            </a:r>
            <a:endParaRPr lang="en-US" sz="1100" dirty="0"/>
          </a:p>
        </p:txBody>
      </p:sp>
      <p:sp>
        <p:nvSpPr>
          <p:cNvPr id="11" name="Shape 9"/>
          <p:cNvSpPr/>
          <p:nvPr/>
        </p:nvSpPr>
        <p:spPr>
          <a:xfrm>
            <a:off x="457200" y="1984248"/>
            <a:ext cx="1005840" cy="777240"/>
          </a:xfrm>
          <a:prstGeom prst="rect">
            <a:avLst/>
          </a:prstGeom>
          <a:solidFill>
            <a:srgbClr val="B85042"/>
          </a:solidFill>
          <a:ln/>
        </p:spPr>
      </p:sp>
      <p:sp>
        <p:nvSpPr>
          <p:cNvPr id="12" name="Text 10"/>
          <p:cNvSpPr/>
          <p:nvPr/>
        </p:nvSpPr>
        <p:spPr>
          <a:xfrm>
            <a:off x="457200" y="1984248"/>
            <a:ext cx="1005840" cy="77724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2003</a:t>
            </a:r>
            <a:endParaRPr lang="en-US" sz="1800" dirty="0"/>
          </a:p>
        </p:txBody>
      </p:sp>
      <p:sp>
        <p:nvSpPr>
          <p:cNvPr id="13" name="Shape 11"/>
          <p:cNvSpPr/>
          <p:nvPr/>
        </p:nvSpPr>
        <p:spPr>
          <a:xfrm>
            <a:off x="1463040" y="1984248"/>
            <a:ext cx="7223760" cy="777240"/>
          </a:xfrm>
          <a:prstGeom prst="rect">
            <a:avLst/>
          </a:prstGeom>
          <a:solidFill>
            <a:srgbClr val="F8FAFF"/>
          </a:solidFill>
          <a:ln w="12700">
            <a:solidFill>
              <a:srgbClr val="D5DEEF"/>
            </a:solidFill>
            <a:prstDash val="solid"/>
          </a:ln>
        </p:spPr>
      </p:sp>
      <p:sp>
        <p:nvSpPr>
          <p:cNvPr id="14" name="Text 12"/>
          <p:cNvSpPr/>
          <p:nvPr/>
        </p:nvSpPr>
        <p:spPr>
          <a:xfrm>
            <a:off x="1645920" y="2039112"/>
            <a:ext cx="6949440" cy="320040"/>
          </a:xfrm>
          <a:prstGeom prst="rect">
            <a:avLst/>
          </a:prstGeom>
          <a:noFill/>
          <a:ln/>
        </p:spPr>
        <p:txBody>
          <a:bodyPr wrap="square" lIns="0" tIns="0" rIns="0" bIns="0" rtlCol="0" anchor="ctr"/>
          <a:lstStyle/>
          <a:p>
            <a:pPr indent="0" marL="0">
              <a:buNone/>
            </a:pPr>
            <a:r>
              <a:rPr lang="en-US" sz="1400" b="1" dirty="0">
                <a:solidFill>
                  <a:srgbClr val="B85042"/>
                </a:solidFill>
                <a:latin typeface="Georgia" pitchFamily="34" charset="0"/>
                <a:ea typeface="Georgia" pitchFamily="34" charset="-122"/>
                <a:cs typeface="Georgia" pitchFamily="34" charset="-120"/>
              </a:rPr>
              <a:t>Libert &amp; Quisquater</a:t>
            </a:r>
            <a:endParaRPr lang="en-US" sz="1400" dirty="0"/>
          </a:p>
        </p:txBody>
      </p:sp>
      <p:sp>
        <p:nvSpPr>
          <p:cNvPr id="15" name="Text 13"/>
          <p:cNvSpPr/>
          <p:nvPr/>
        </p:nvSpPr>
        <p:spPr>
          <a:xfrm>
            <a:off x="1645920" y="2368296"/>
            <a:ext cx="6949440" cy="374904"/>
          </a:xfrm>
          <a:prstGeom prst="rect">
            <a:avLst/>
          </a:prstGeom>
          <a:noFill/>
          <a:ln/>
        </p:spPr>
        <p:txBody>
          <a:bodyPr wrap="square" lIns="0" tIns="0" rIns="0" bIns="0" rtlCol="0" anchor="t"/>
          <a:lstStyle/>
          <a:p>
            <a:pPr indent="0" marL="0">
              <a:buNone/>
            </a:pPr>
            <a:r>
              <a:rPr lang="en-US" sz="1100" dirty="0">
                <a:solidFill>
                  <a:srgbClr val="2F3C4F"/>
                </a:solidFill>
                <a:latin typeface="Calibri" pitchFamily="34" charset="0"/>
                <a:ea typeface="Calibri" pitchFamily="34" charset="-122"/>
                <a:cs typeface="Calibri" pitchFamily="34" charset="-120"/>
              </a:rPr>
              <a:t>Flaw found: signature exposed in clear → semantic security defeated</a:t>
            </a:r>
            <a:endParaRPr lang="en-US" sz="1100" dirty="0"/>
          </a:p>
        </p:txBody>
      </p:sp>
      <p:sp>
        <p:nvSpPr>
          <p:cNvPr id="16" name="Shape 14"/>
          <p:cNvSpPr/>
          <p:nvPr/>
        </p:nvSpPr>
        <p:spPr>
          <a:xfrm>
            <a:off x="457200" y="2871216"/>
            <a:ext cx="1005840" cy="777240"/>
          </a:xfrm>
          <a:prstGeom prst="rect">
            <a:avLst/>
          </a:prstGeom>
          <a:solidFill>
            <a:srgbClr val="2C5F2D"/>
          </a:solidFill>
          <a:ln/>
        </p:spPr>
      </p:sp>
      <p:sp>
        <p:nvSpPr>
          <p:cNvPr id="17" name="Text 15"/>
          <p:cNvSpPr/>
          <p:nvPr/>
        </p:nvSpPr>
        <p:spPr>
          <a:xfrm>
            <a:off x="457200" y="2871216"/>
            <a:ext cx="1005840" cy="77724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2003</a:t>
            </a:r>
            <a:endParaRPr lang="en-US" sz="1800" dirty="0"/>
          </a:p>
        </p:txBody>
      </p:sp>
      <p:sp>
        <p:nvSpPr>
          <p:cNvPr id="18" name="Shape 16"/>
          <p:cNvSpPr/>
          <p:nvPr/>
        </p:nvSpPr>
        <p:spPr>
          <a:xfrm>
            <a:off x="1463040" y="2871216"/>
            <a:ext cx="7223760" cy="777240"/>
          </a:xfrm>
          <a:prstGeom prst="rect">
            <a:avLst/>
          </a:prstGeom>
          <a:solidFill>
            <a:srgbClr val="F8FAFF"/>
          </a:solidFill>
          <a:ln w="12700">
            <a:solidFill>
              <a:srgbClr val="D5DEEF"/>
            </a:solidFill>
            <a:prstDash val="solid"/>
          </a:ln>
        </p:spPr>
      </p:sp>
      <p:sp>
        <p:nvSpPr>
          <p:cNvPr id="19" name="Text 17"/>
          <p:cNvSpPr/>
          <p:nvPr/>
        </p:nvSpPr>
        <p:spPr>
          <a:xfrm>
            <a:off x="1645920" y="2926080"/>
            <a:ext cx="6949440" cy="320040"/>
          </a:xfrm>
          <a:prstGeom prst="rect">
            <a:avLst/>
          </a:prstGeom>
          <a:noFill/>
          <a:ln/>
        </p:spPr>
        <p:txBody>
          <a:bodyPr wrap="square" lIns="0" tIns="0" rIns="0" bIns="0" rtlCol="0" anchor="ctr"/>
          <a:lstStyle/>
          <a:p>
            <a:pPr indent="0" marL="0">
              <a:buNone/>
            </a:pPr>
            <a:r>
              <a:rPr lang="en-US" sz="1400" b="1" dirty="0">
                <a:solidFill>
                  <a:srgbClr val="2C5F2D"/>
                </a:solidFill>
                <a:latin typeface="Georgia" pitchFamily="34" charset="0"/>
                <a:ea typeface="Georgia" pitchFamily="34" charset="-122"/>
                <a:cs typeface="Georgia" pitchFamily="34" charset="-120"/>
              </a:rPr>
              <a:t>Boyen (IBSE)</a:t>
            </a:r>
            <a:endParaRPr lang="en-US" sz="1400" dirty="0"/>
          </a:p>
        </p:txBody>
      </p:sp>
      <p:sp>
        <p:nvSpPr>
          <p:cNvPr id="20" name="Text 18"/>
          <p:cNvSpPr/>
          <p:nvPr/>
        </p:nvSpPr>
        <p:spPr>
          <a:xfrm>
            <a:off x="1645920" y="3255264"/>
            <a:ext cx="6949440" cy="374904"/>
          </a:xfrm>
          <a:prstGeom prst="rect">
            <a:avLst/>
          </a:prstGeom>
          <a:noFill/>
          <a:ln/>
        </p:spPr>
        <p:txBody>
          <a:bodyPr wrap="square" lIns="0" tIns="0" rIns="0" bIns="0" rtlCol="0" anchor="t"/>
          <a:lstStyle/>
          <a:p>
            <a:pPr indent="0" marL="0">
              <a:buNone/>
            </a:pPr>
            <a:r>
              <a:rPr lang="en-US" sz="1100" dirty="0">
                <a:solidFill>
                  <a:srgbClr val="2F3C4F"/>
                </a:solidFill>
                <a:latin typeface="Calibri" pitchFamily="34" charset="0"/>
                <a:ea typeface="Calibri" pitchFamily="34" charset="-122"/>
                <a:cs typeface="Calibri" pitchFamily="34" charset="-120"/>
              </a:rPr>
              <a:t>Adds anonymity, unlinkability, forward secrecy</a:t>
            </a:r>
            <a:endParaRPr lang="en-US" sz="1100" dirty="0"/>
          </a:p>
        </p:txBody>
      </p:sp>
      <p:sp>
        <p:nvSpPr>
          <p:cNvPr id="21" name="Shape 19"/>
          <p:cNvSpPr/>
          <p:nvPr/>
        </p:nvSpPr>
        <p:spPr>
          <a:xfrm>
            <a:off x="457200" y="4114800"/>
            <a:ext cx="8229600" cy="594360"/>
          </a:xfrm>
          <a:prstGeom prst="rect">
            <a:avLst/>
          </a:prstGeom>
          <a:solidFill>
            <a:srgbClr val="F3ECD2"/>
          </a:solidFill>
          <a:ln w="12700">
            <a:solidFill>
              <a:srgbClr val="D4A017"/>
            </a:solidFill>
            <a:prstDash val="solid"/>
          </a:ln>
        </p:spPr>
      </p:sp>
      <p:sp>
        <p:nvSpPr>
          <p:cNvPr id="22" name="Text 20"/>
          <p:cNvSpPr/>
          <p:nvPr/>
        </p:nvSpPr>
        <p:spPr>
          <a:xfrm>
            <a:off x="640080" y="4114800"/>
            <a:ext cx="7863840" cy="59436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Pattern: </a:t>
            </a:r>
            <a:pPr algn="ctr" indent="0" marL="0">
              <a:buNone/>
            </a:pPr>
            <a:r>
              <a:rPr lang="en-US" sz="1200" dirty="0">
                <a:solidFill>
                  <a:srgbClr val="2F3C4F"/>
                </a:solidFill>
                <a:latin typeface="Calibri" pitchFamily="34" charset="0"/>
                <a:ea typeface="Calibri" pitchFamily="34" charset="-122"/>
                <a:cs typeface="Calibri" pitchFamily="34" charset="-120"/>
              </a:rPr>
              <a:t>integrating signature + encryption is subtle; flaws surface only under formal analysis.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E2761"/>
          </a:solidFill>
          <a:ln/>
        </p:spPr>
      </p:sp>
      <p:sp>
        <p:nvSpPr>
          <p:cNvPr id="3" name="Text 1"/>
          <p:cNvSpPr/>
          <p:nvPr/>
        </p:nvSpPr>
        <p:spPr>
          <a:xfrm>
            <a:off x="274320" y="4873752"/>
            <a:ext cx="6858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 Review of Signcryption  ·  BAHATI Justin  ·  MSE 9123</a:t>
            </a:r>
            <a:endParaRPr lang="en-US" sz="900" dirty="0"/>
          </a:p>
        </p:txBody>
      </p:sp>
      <p:sp>
        <p:nvSpPr>
          <p:cNvPr id="4" name="Text 2"/>
          <p:cNvSpPr/>
          <p:nvPr/>
        </p:nvSpPr>
        <p:spPr>
          <a:xfrm>
            <a:off x="7863840" y="4873752"/>
            <a:ext cx="100584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 / 14</a:t>
            </a:r>
            <a:endParaRPr lang="en-US" sz="900" dirty="0"/>
          </a:p>
        </p:txBody>
      </p:sp>
      <p:sp>
        <p:nvSpPr>
          <p:cNvPr id="5" name="Text 3"/>
          <p:cNvSpPr/>
          <p:nvPr/>
        </p:nvSpPr>
        <p:spPr>
          <a:xfrm>
            <a:off x="320040" y="274320"/>
            <a:ext cx="8503920" cy="640080"/>
          </a:xfrm>
          <a:prstGeom prst="rect">
            <a:avLst/>
          </a:prstGeom>
          <a:noFill/>
          <a:ln/>
        </p:spPr>
        <p:txBody>
          <a:bodyPr wrap="square" lIns="0" tIns="0" rIns="0" bIns="0" rtlCol="0" anchor="ctr"/>
          <a:lstStyle/>
          <a:p>
            <a:pPr algn="l" indent="0" marL="0">
              <a:buNone/>
            </a:pPr>
            <a:r>
              <a:rPr lang="en-US" sz="2600" b="1" dirty="0">
                <a:solidFill>
                  <a:srgbClr val="1E2761"/>
                </a:solidFill>
                <a:latin typeface="Georgia" pitchFamily="34" charset="0"/>
                <a:ea typeface="Georgia" pitchFamily="34" charset="-122"/>
                <a:cs typeface="Georgia" pitchFamily="34" charset="-120"/>
              </a:rPr>
              <a:t>ISO/IEC 29150 (2011): Formal Recognition</a:t>
            </a:r>
            <a:endParaRPr lang="en-US" sz="2600" dirty="0"/>
          </a:p>
        </p:txBody>
      </p:sp>
      <p:sp>
        <p:nvSpPr>
          <p:cNvPr id="6" name="Shape 4"/>
          <p:cNvSpPr/>
          <p:nvPr/>
        </p:nvSpPr>
        <p:spPr>
          <a:xfrm>
            <a:off x="457200" y="1143000"/>
            <a:ext cx="4023360" cy="1280160"/>
          </a:xfrm>
          <a:prstGeom prst="rect">
            <a:avLst/>
          </a:prstGeom>
          <a:solidFill>
            <a:srgbClr val="F8FAFF"/>
          </a:solidFill>
          <a:ln w="12700">
            <a:solidFill>
              <a:srgbClr val="1E2761"/>
            </a:solidFill>
            <a:prstDash val="solid"/>
          </a:ln>
        </p:spPr>
      </p:sp>
      <p:sp>
        <p:nvSpPr>
          <p:cNvPr id="7" name="Text 5"/>
          <p:cNvSpPr/>
          <p:nvPr/>
        </p:nvSpPr>
        <p:spPr>
          <a:xfrm>
            <a:off x="640080" y="1234440"/>
            <a:ext cx="3657600" cy="365760"/>
          </a:xfrm>
          <a:prstGeom prst="rect">
            <a:avLst/>
          </a:prstGeom>
          <a:noFill/>
          <a:ln/>
        </p:spPr>
        <p:txBody>
          <a:bodyPr wrap="square" rtlCol="0" anchor="ctr"/>
          <a:lstStyle/>
          <a:p>
            <a:pPr indent="0" marL="0">
              <a:buNone/>
            </a:pPr>
            <a:r>
              <a:rPr lang="en-US" sz="1600" b="1" dirty="0">
                <a:solidFill>
                  <a:srgbClr val="1E2761"/>
                </a:solidFill>
                <a:latin typeface="Georgia" pitchFamily="34" charset="0"/>
                <a:ea typeface="Georgia" pitchFamily="34" charset="-122"/>
                <a:cs typeface="Georgia" pitchFamily="34" charset="-120"/>
              </a:rPr>
              <a:t>DLP-based family</a:t>
            </a:r>
            <a:endParaRPr lang="en-US" sz="1600" dirty="0"/>
          </a:p>
        </p:txBody>
      </p:sp>
      <p:sp>
        <p:nvSpPr>
          <p:cNvPr id="8" name="Text 6"/>
          <p:cNvSpPr/>
          <p:nvPr/>
        </p:nvSpPr>
        <p:spPr>
          <a:xfrm>
            <a:off x="640080" y="1645920"/>
            <a:ext cx="3657600" cy="777240"/>
          </a:xfrm>
          <a:prstGeom prst="rect">
            <a:avLst/>
          </a:prstGeom>
          <a:noFill/>
          <a:ln/>
        </p:spPr>
        <p:txBody>
          <a:bodyPr wrap="square" rtlCol="0" anchor="t"/>
          <a:lstStyle/>
          <a:p>
            <a:pPr indent="0" marL="0">
              <a:buNone/>
            </a:pPr>
            <a:r>
              <a:rPr lang="en-US" sz="1200" dirty="0">
                <a:solidFill>
                  <a:srgbClr val="2F3C4F"/>
                </a:solidFill>
                <a:latin typeface="Calibri" pitchFamily="34" charset="0"/>
                <a:ea typeface="Calibri" pitchFamily="34" charset="-122"/>
                <a:cs typeface="Calibri" pitchFamily="34" charset="-120"/>
              </a:rPr>
              <a:t>From Zheng's original SDSS1/SDSS2</a:t>
            </a:r>
            <a:endParaRPr lang="en-US" sz="1200" dirty="0"/>
          </a:p>
          <a:p>
            <a:pPr indent="0" marL="0">
              <a:buNone/>
            </a:pPr>
            <a:r>
              <a:rPr lang="en-US" sz="1200" dirty="0">
                <a:solidFill>
                  <a:srgbClr val="2F3C4F"/>
                </a:solidFill>
                <a:latin typeface="Calibri" pitchFamily="34" charset="0"/>
                <a:ea typeface="Calibri" pitchFamily="34" charset="-122"/>
                <a:cs typeface="Calibri" pitchFamily="34" charset="-120"/>
              </a:rPr>
              <a:t>over finite fields</a:t>
            </a:r>
            <a:endParaRPr lang="en-US" sz="1200" dirty="0"/>
          </a:p>
        </p:txBody>
      </p:sp>
      <p:sp>
        <p:nvSpPr>
          <p:cNvPr id="9" name="Shape 7"/>
          <p:cNvSpPr/>
          <p:nvPr/>
        </p:nvSpPr>
        <p:spPr>
          <a:xfrm>
            <a:off x="4754880" y="1143000"/>
            <a:ext cx="4023360" cy="1280160"/>
          </a:xfrm>
          <a:prstGeom prst="rect">
            <a:avLst/>
          </a:prstGeom>
          <a:solidFill>
            <a:srgbClr val="F8FAFF"/>
          </a:solidFill>
          <a:ln w="12700">
            <a:solidFill>
              <a:srgbClr val="1E2761"/>
            </a:solidFill>
            <a:prstDash val="solid"/>
          </a:ln>
        </p:spPr>
      </p:sp>
      <p:sp>
        <p:nvSpPr>
          <p:cNvPr id="10" name="Text 8"/>
          <p:cNvSpPr/>
          <p:nvPr/>
        </p:nvSpPr>
        <p:spPr>
          <a:xfrm>
            <a:off x="4937760" y="1234440"/>
            <a:ext cx="3657600" cy="365760"/>
          </a:xfrm>
          <a:prstGeom prst="rect">
            <a:avLst/>
          </a:prstGeom>
          <a:noFill/>
          <a:ln/>
        </p:spPr>
        <p:txBody>
          <a:bodyPr wrap="square" rtlCol="0" anchor="ctr"/>
          <a:lstStyle/>
          <a:p>
            <a:pPr indent="0" marL="0">
              <a:buNone/>
            </a:pPr>
            <a:r>
              <a:rPr lang="en-US" sz="1600" b="1" dirty="0">
                <a:solidFill>
                  <a:srgbClr val="1E2761"/>
                </a:solidFill>
                <a:latin typeface="Georgia" pitchFamily="34" charset="0"/>
                <a:ea typeface="Georgia" pitchFamily="34" charset="-122"/>
                <a:cs typeface="Georgia" pitchFamily="34" charset="-120"/>
              </a:rPr>
              <a:t>EC-based family</a:t>
            </a:r>
            <a:endParaRPr lang="en-US" sz="1600" dirty="0"/>
          </a:p>
        </p:txBody>
      </p:sp>
      <p:sp>
        <p:nvSpPr>
          <p:cNvPr id="11" name="Text 9"/>
          <p:cNvSpPr/>
          <p:nvPr/>
        </p:nvSpPr>
        <p:spPr>
          <a:xfrm>
            <a:off x="4937760" y="1645920"/>
            <a:ext cx="3657600" cy="777240"/>
          </a:xfrm>
          <a:prstGeom prst="rect">
            <a:avLst/>
          </a:prstGeom>
          <a:noFill/>
          <a:ln/>
        </p:spPr>
        <p:txBody>
          <a:bodyPr wrap="square" rtlCol="0" anchor="t"/>
          <a:lstStyle/>
          <a:p>
            <a:pPr indent="0" marL="0">
              <a:buNone/>
            </a:pPr>
            <a:r>
              <a:rPr lang="en-US" sz="1200" dirty="0">
                <a:solidFill>
                  <a:srgbClr val="2F3C4F"/>
                </a:solidFill>
                <a:latin typeface="Calibri" pitchFamily="34" charset="0"/>
                <a:ea typeface="Calibri" pitchFamily="34" charset="-122"/>
                <a:cs typeface="Calibri" pitchFamily="34" charset="-120"/>
              </a:rPr>
              <a:t>From Zheng–Imai (1998)</a:t>
            </a:r>
            <a:endParaRPr lang="en-US" sz="1200" dirty="0"/>
          </a:p>
          <a:p>
            <a:pPr indent="0" marL="0">
              <a:buNone/>
            </a:pPr>
            <a:r>
              <a:rPr lang="en-US" sz="1200" dirty="0">
                <a:solidFill>
                  <a:srgbClr val="2F3C4F"/>
                </a:solidFill>
                <a:latin typeface="Calibri" pitchFamily="34" charset="0"/>
                <a:ea typeface="Calibri" pitchFamily="34" charset="-122"/>
                <a:cs typeface="Calibri" pitchFamily="34" charset="-120"/>
              </a:rPr>
              <a:t>over elliptic curves</a:t>
            </a:r>
            <a:endParaRPr lang="en-US" sz="1200" dirty="0"/>
          </a:p>
        </p:txBody>
      </p:sp>
      <p:sp>
        <p:nvSpPr>
          <p:cNvPr id="12" name="Text 10"/>
          <p:cNvSpPr/>
          <p:nvPr/>
        </p:nvSpPr>
        <p:spPr>
          <a:xfrm>
            <a:off x="457200" y="2606040"/>
            <a:ext cx="8229600" cy="274320"/>
          </a:xfrm>
          <a:prstGeom prst="rect">
            <a:avLst/>
          </a:prstGeom>
          <a:noFill/>
          <a:ln/>
        </p:spPr>
        <p:txBody>
          <a:bodyPr wrap="square"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Two operating modes for each family:</a:t>
            </a:r>
            <a:endParaRPr lang="en-US" sz="1200" dirty="0"/>
          </a:p>
        </p:txBody>
      </p:sp>
      <p:sp>
        <p:nvSpPr>
          <p:cNvPr id="13" name="Text 11"/>
          <p:cNvSpPr/>
          <p:nvPr/>
        </p:nvSpPr>
        <p:spPr>
          <a:xfrm>
            <a:off x="457200" y="2880360"/>
            <a:ext cx="4023360" cy="731520"/>
          </a:xfrm>
          <a:prstGeom prst="rect">
            <a:avLst/>
          </a:prstGeom>
          <a:noFill/>
          <a:ln/>
        </p:spPr>
        <p:txBody>
          <a:bodyPr wrap="square" rtlCol="0" anchor="t"/>
          <a:lstStyle/>
          <a:p>
            <a:pPr indent="0" marL="0">
              <a:buNone/>
            </a:pPr>
            <a:r>
              <a:rPr lang="en-US" sz="1200" b="1" dirty="0">
                <a:solidFill>
                  <a:srgbClr val="1E2761"/>
                </a:solidFill>
                <a:latin typeface="Calibri" pitchFamily="34" charset="0"/>
                <a:ea typeface="Calibri" pitchFamily="34" charset="-122"/>
                <a:cs typeface="Calibri" pitchFamily="34" charset="-120"/>
              </a:rPr>
              <a:t>Key transport  </a:t>
            </a:r>
            <a:pPr indent="0" marL="0">
              <a:buNone/>
            </a:pPr>
            <a:r>
              <a:rPr lang="en-US" sz="1200" dirty="0">
                <a:solidFill>
                  <a:srgbClr val="2F3C4F"/>
                </a:solidFill>
                <a:latin typeface="Calibri" pitchFamily="34" charset="0"/>
                <a:ea typeface="Calibri" pitchFamily="34" charset="-122"/>
                <a:cs typeface="Calibri" pitchFamily="34" charset="-120"/>
              </a:rPr>
              <a:t>Fresh symmetric key generated and transmitted alongside ciphertext</a:t>
            </a:r>
            <a:endParaRPr lang="en-US" sz="1200" dirty="0"/>
          </a:p>
        </p:txBody>
      </p:sp>
      <p:sp>
        <p:nvSpPr>
          <p:cNvPr id="14" name="Text 12"/>
          <p:cNvSpPr/>
          <p:nvPr/>
        </p:nvSpPr>
        <p:spPr>
          <a:xfrm>
            <a:off x="4754880" y="2880360"/>
            <a:ext cx="4023360" cy="731520"/>
          </a:xfrm>
          <a:prstGeom prst="rect">
            <a:avLst/>
          </a:prstGeom>
          <a:noFill/>
          <a:ln/>
        </p:spPr>
        <p:txBody>
          <a:bodyPr wrap="square" rtlCol="0" anchor="t"/>
          <a:lstStyle/>
          <a:p>
            <a:pPr indent="0" marL="0">
              <a:buNone/>
            </a:pPr>
            <a:r>
              <a:rPr lang="en-US" sz="1200" b="1" dirty="0">
                <a:solidFill>
                  <a:srgbClr val="1E2761"/>
                </a:solidFill>
                <a:latin typeface="Calibri" pitchFamily="34" charset="0"/>
                <a:ea typeface="Calibri" pitchFamily="34" charset="-122"/>
                <a:cs typeface="Calibri" pitchFamily="34" charset="-120"/>
              </a:rPr>
              <a:t>Key agreement  </a:t>
            </a:r>
            <a:pPr indent="0" marL="0">
              <a:buNone/>
            </a:pPr>
            <a:r>
              <a:rPr lang="en-US" sz="1200" dirty="0">
                <a:solidFill>
                  <a:srgbClr val="2F3C4F"/>
                </a:solidFill>
                <a:latin typeface="Calibri" pitchFamily="34" charset="0"/>
                <a:ea typeface="Calibri" pitchFamily="34" charset="-122"/>
                <a:cs typeface="Calibri" pitchFamily="34" charset="-120"/>
              </a:rPr>
              <a:t>Symmetric key derived from shared Diffie–Hellman computation</a:t>
            </a:r>
            <a:endParaRPr lang="en-US" sz="1200" dirty="0"/>
          </a:p>
        </p:txBody>
      </p:sp>
      <p:sp>
        <p:nvSpPr>
          <p:cNvPr id="15" name="Shape 13"/>
          <p:cNvSpPr/>
          <p:nvPr/>
        </p:nvSpPr>
        <p:spPr>
          <a:xfrm>
            <a:off x="457200" y="3794760"/>
            <a:ext cx="8229600" cy="822960"/>
          </a:xfrm>
          <a:prstGeom prst="rect">
            <a:avLst/>
          </a:prstGeom>
          <a:solidFill>
            <a:srgbClr val="F5E8E6"/>
          </a:solidFill>
          <a:ln w="12700">
            <a:solidFill>
              <a:srgbClr val="B85042"/>
            </a:solidFill>
            <a:prstDash val="solid"/>
          </a:ln>
        </p:spPr>
      </p:sp>
      <p:sp>
        <p:nvSpPr>
          <p:cNvPr id="16" name="Text 14"/>
          <p:cNvSpPr/>
          <p:nvPr/>
        </p:nvSpPr>
        <p:spPr>
          <a:xfrm>
            <a:off x="640080" y="3794760"/>
            <a:ext cx="7863840" cy="822960"/>
          </a:xfrm>
          <a:prstGeom prst="rect">
            <a:avLst/>
          </a:prstGeom>
          <a:noFill/>
          <a:ln/>
        </p:spPr>
        <p:txBody>
          <a:bodyPr wrap="square" lIns="0" tIns="0" rIns="0" bIns="0" rtlCol="0" anchor="ctr"/>
          <a:lstStyle/>
          <a:p>
            <a:pPr indent="0" marL="0">
              <a:buNone/>
            </a:pPr>
            <a:r>
              <a:rPr lang="en-US" sz="1800" b="1" dirty="0">
                <a:solidFill>
                  <a:srgbClr val="B85042"/>
                </a:solidFill>
                <a:latin typeface="Calibri" pitchFamily="34" charset="0"/>
                <a:ea typeface="Calibri" pitchFamily="34" charset="-122"/>
                <a:cs typeface="Calibri" pitchFamily="34" charset="-120"/>
              </a:rPr>
              <a:t>⚠  </a:t>
            </a:r>
            <a:pPr indent="0" marL="0">
              <a:buNone/>
            </a:pPr>
            <a:r>
              <a:rPr lang="en-US" sz="1300" dirty="0">
                <a:solidFill>
                  <a:srgbClr val="2F3C4F"/>
                </a:solidFill>
                <a:latin typeface="Calibri" pitchFamily="34" charset="0"/>
                <a:ea typeface="Calibri" pitchFamily="34" charset="-122"/>
                <a:cs typeface="Calibri" pitchFamily="34" charset="-120"/>
              </a:rPr>
              <a:t>Unlike AES or SHA-3, ISO/IEC 29150 shipped without reference implementations or industry champions. </a:t>
            </a:r>
            <a:pPr indent="0" marL="0">
              <a:buNone/>
            </a:pPr>
            <a:r>
              <a:rPr lang="en-US" sz="1300" b="1" dirty="0">
                <a:solidFill>
                  <a:srgbClr val="B85042"/>
                </a:solidFill>
                <a:latin typeface="Calibri" pitchFamily="34" charset="0"/>
                <a:ea typeface="Calibri" pitchFamily="34" charset="-122"/>
                <a:cs typeface="Calibri" pitchFamily="34" charset="-120"/>
              </a:rPr>
              <a:t>No major library ships a conforming implementation.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E2761"/>
          </a:solidFill>
          <a:ln/>
        </p:spPr>
      </p:sp>
      <p:sp>
        <p:nvSpPr>
          <p:cNvPr id="3" name="Text 1"/>
          <p:cNvSpPr/>
          <p:nvPr/>
        </p:nvSpPr>
        <p:spPr>
          <a:xfrm>
            <a:off x="274320" y="4873752"/>
            <a:ext cx="6858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 Review of Signcryption  ·  BAHATI Justin  ·  MSE 9123</a:t>
            </a:r>
            <a:endParaRPr lang="en-US" sz="900" dirty="0"/>
          </a:p>
        </p:txBody>
      </p:sp>
      <p:sp>
        <p:nvSpPr>
          <p:cNvPr id="4" name="Text 2"/>
          <p:cNvSpPr/>
          <p:nvPr/>
        </p:nvSpPr>
        <p:spPr>
          <a:xfrm>
            <a:off x="7863840" y="4873752"/>
            <a:ext cx="100584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 / 14</a:t>
            </a:r>
            <a:endParaRPr lang="en-US" sz="900" dirty="0"/>
          </a:p>
        </p:txBody>
      </p:sp>
      <p:sp>
        <p:nvSpPr>
          <p:cNvPr id="5" name="Text 3"/>
          <p:cNvSpPr/>
          <p:nvPr/>
        </p:nvSpPr>
        <p:spPr>
          <a:xfrm>
            <a:off x="320040" y="274320"/>
            <a:ext cx="8503920" cy="640080"/>
          </a:xfrm>
          <a:prstGeom prst="rect">
            <a:avLst/>
          </a:prstGeom>
          <a:noFill/>
          <a:ln/>
        </p:spPr>
        <p:txBody>
          <a:bodyPr wrap="square" lIns="0" tIns="0" rIns="0" bIns="0" rtlCol="0" anchor="ctr"/>
          <a:lstStyle/>
          <a:p>
            <a:pPr algn="l" indent="0" marL="0">
              <a:buNone/>
            </a:pPr>
            <a:r>
              <a:rPr lang="en-US" sz="2600" b="1" dirty="0">
                <a:solidFill>
                  <a:srgbClr val="1E2761"/>
                </a:solidFill>
                <a:latin typeface="Georgia" pitchFamily="34" charset="0"/>
                <a:ea typeface="Georgia" pitchFamily="34" charset="-122"/>
                <a:cs typeface="Georgia" pitchFamily="34" charset="-120"/>
              </a:rPr>
              <a:t>Scheme Comparison at a Glance</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2834640"/>
        </p:xfrm>
        <a:graphic>
          <a:graphicData uri="http://schemas.openxmlformats.org/drawingml/2006/table">
            <a:tbl>
              <a:tblPr/>
              <a:tblGrid>
                <a:gridCol w="1554480"/>
                <a:gridCol w="640080"/>
                <a:gridCol w="1097280"/>
                <a:gridCol w="1280160"/>
                <a:gridCol w="1463040"/>
                <a:gridCol w="2194560"/>
              </a:tblGrid>
              <a:tr h="31496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Scheme</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Year</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Setting</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Hardness</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Proof Model</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vs StE</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1E2761"/>
                    </a:solidFill>
                  </a:tcPr>
                </a:tc>
              </a:tr>
              <a:tr h="314960">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Zheng</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1997</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PKI</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DLP</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50% / 85%</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r>
              <a:tr h="314960">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Zheng–Imai</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1998</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PKI (EC)</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ECDLP</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58% / 40%</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r>
              <a:tr h="314960">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Steinfeld–Zheng</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2000</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PKI</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Factoring</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ROM</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Similar</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r>
              <a:tr h="314960">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Baek et al.</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2002</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PKI</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GDH / DLP</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ROM</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Same as Zheng</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r>
              <a:tr h="314960">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An et al.</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2002</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PKI</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Generic</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ROM</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Compositional</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r>
              <a:tr h="314960">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Malone-Lee</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2002</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ID-based</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BDH</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ROM</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Fewer pairings</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r>
              <a:tr h="314960">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Boyen</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2003</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ID-based</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BDH</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ROM</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c>
                  <a:txBody>
                    <a:bodyPr/>
                    <a:lstStyle/>
                    <a:p>
                      <a:pPr algn="l" indent="0" marL="0">
                        <a:buNone/>
                      </a:pPr>
                      <a:r>
                        <a:rPr lang="en-US" sz="1100" dirty="0">
                          <a:solidFill>
                            <a:srgbClr val="2F3C4F"/>
                          </a:solidFill>
                          <a:latin typeface="Calibri" pitchFamily="34" charset="0"/>
                          <a:ea typeface="Calibri" pitchFamily="34" charset="-122"/>
                          <a:cs typeface="Calibri" pitchFamily="34" charset="-120"/>
                        </a:rPr>
                        <a:t>Compact</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r>
              <a:tr h="314960">
                <a:tc>
                  <a:txBody>
                    <a:bodyPr/>
                    <a:lstStyle/>
                    <a:p>
                      <a:pPr algn="l" indent="0" marL="0">
                        <a:buNone/>
                      </a:pPr>
                      <a:r>
                        <a:rPr lang="en-US" sz="1100" b="1" dirty="0">
                          <a:solidFill>
                            <a:srgbClr val="2C5F2D"/>
                          </a:solidFill>
                          <a:latin typeface="Calibri" pitchFamily="34" charset="0"/>
                          <a:ea typeface="Calibri" pitchFamily="34" charset="-122"/>
                          <a:cs typeface="Calibri" pitchFamily="34" charset="-120"/>
                        </a:rPr>
                        <a:t>Sato–Shikata</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c>
                  <a:txBody>
                    <a:bodyPr/>
                    <a:lstStyle/>
                    <a:p>
                      <a:pPr algn="l" indent="0" marL="0">
                        <a:buNone/>
                      </a:pPr>
                      <a:r>
                        <a:rPr lang="en-US" sz="1100" b="1" dirty="0">
                          <a:solidFill>
                            <a:srgbClr val="2C5F2D"/>
                          </a:solidFill>
                          <a:latin typeface="Calibri" pitchFamily="34" charset="0"/>
                          <a:ea typeface="Calibri" pitchFamily="34" charset="-122"/>
                          <a:cs typeface="Calibri" pitchFamily="34" charset="-120"/>
                        </a:rPr>
                        <a:t>2018</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c>
                  <a:txBody>
                    <a:bodyPr/>
                    <a:lstStyle/>
                    <a:p>
                      <a:pPr algn="l" indent="0" marL="0">
                        <a:buNone/>
                      </a:pPr>
                      <a:r>
                        <a:rPr lang="en-US" sz="1100" b="1" dirty="0">
                          <a:solidFill>
                            <a:srgbClr val="2C5F2D"/>
                          </a:solidFill>
                          <a:latin typeface="Calibri" pitchFamily="34" charset="0"/>
                          <a:ea typeface="Calibri" pitchFamily="34" charset="-122"/>
                          <a:cs typeface="Calibri" pitchFamily="34" charset="-120"/>
                        </a:rPr>
                        <a:t>PKI</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c>
                  <a:txBody>
                    <a:bodyPr/>
                    <a:lstStyle/>
                    <a:p>
                      <a:pPr algn="l" indent="0" marL="0">
                        <a:buNone/>
                      </a:pPr>
                      <a:r>
                        <a:rPr lang="en-US" sz="1100" b="1" dirty="0">
                          <a:solidFill>
                            <a:srgbClr val="2C5F2D"/>
                          </a:solidFill>
                          <a:latin typeface="Calibri" pitchFamily="34" charset="0"/>
                          <a:ea typeface="Calibri" pitchFamily="34" charset="-122"/>
                          <a:cs typeface="Calibri" pitchFamily="34" charset="-120"/>
                        </a:rPr>
                        <a:t>LWE / SIS</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c>
                  <a:txBody>
                    <a:bodyPr/>
                    <a:lstStyle/>
                    <a:p>
                      <a:pPr algn="l" indent="0" marL="0">
                        <a:buNone/>
                      </a:pPr>
                      <a:r>
                        <a:rPr lang="en-US" sz="1100" b="1" dirty="0">
                          <a:solidFill>
                            <a:srgbClr val="2C5F2D"/>
                          </a:solidFill>
                          <a:latin typeface="Calibri" pitchFamily="34" charset="0"/>
                          <a:ea typeface="Calibri" pitchFamily="34" charset="-122"/>
                          <a:cs typeface="Calibri" pitchFamily="34" charset="-120"/>
                        </a:rPr>
                        <a:t>Standard</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c>
                  <a:txBody>
                    <a:bodyPr/>
                    <a:lstStyle/>
                    <a:p>
                      <a:pPr algn="l" indent="0" marL="0">
                        <a:buNone/>
                      </a:pPr>
                      <a:r>
                        <a:rPr lang="en-US" sz="1100" b="1" dirty="0">
                          <a:solidFill>
                            <a:srgbClr val="2C5F2D"/>
                          </a:solidFill>
                          <a:latin typeface="Calibri" pitchFamily="34" charset="0"/>
                          <a:ea typeface="Calibri" pitchFamily="34" charset="-122"/>
                          <a:cs typeface="Calibri" pitchFamily="34" charset="-120"/>
                        </a:rPr>
                        <a:t>Under study</a:t>
                      </a:r>
                      <a:endParaRPr lang="en-US" sz="1100" dirty="0">
                        <a:latin typeface="Calibri" charset="0"/>
                        <a:ea typeface="Calibri" charset="0"/>
                        <a:cs typeface="Calibri" charset="0"/>
                      </a:endParaRPr>
                    </a:p>
                  </a:txBody>
                  <a:tcPr marL="91440" marR="9144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tcPr>
                </a:tc>
              </a:tr>
            </a:tbl>
          </a:graphicData>
        </a:graphic>
      </p:graphicFrame>
      <p:sp>
        <p:nvSpPr>
          <p:cNvPr id="7" name="Shape 4"/>
          <p:cNvSpPr/>
          <p:nvPr/>
        </p:nvSpPr>
        <p:spPr>
          <a:xfrm>
            <a:off x="457200" y="4069080"/>
            <a:ext cx="8229600" cy="594360"/>
          </a:xfrm>
          <a:prstGeom prst="rect">
            <a:avLst/>
          </a:prstGeom>
          <a:solidFill>
            <a:srgbClr val="F3ECD2"/>
          </a:solidFill>
          <a:ln w="12700">
            <a:solidFill>
              <a:srgbClr val="D4A017"/>
            </a:solidFill>
            <a:prstDash val="solid"/>
          </a:ln>
        </p:spPr>
      </p:sp>
      <p:sp>
        <p:nvSpPr>
          <p:cNvPr id="8" name="Text 5"/>
          <p:cNvSpPr/>
          <p:nvPr/>
        </p:nvSpPr>
        <p:spPr>
          <a:xfrm>
            <a:off x="640080" y="4069080"/>
            <a:ext cx="7863840" cy="594360"/>
          </a:xfrm>
          <a:prstGeom prst="rect">
            <a:avLst/>
          </a:prstGeom>
          <a:noFill/>
          <a:ln/>
        </p:spPr>
        <p:txBody>
          <a:bodyPr wrap="square" lIns="0" tIns="0" rIns="0" bIns="0" rtlCol="0" anchor="ctr"/>
          <a:lstStyle/>
          <a:p>
            <a:pPr algn="ctr" indent="0" marL="0">
              <a:buNone/>
            </a:pPr>
            <a:r>
              <a:rPr lang="en-US" sz="1200" dirty="0">
                <a:solidFill>
                  <a:srgbClr val="2F3C4F"/>
                </a:solidFill>
                <a:latin typeface="Calibri" pitchFamily="34" charset="0"/>
                <a:ea typeface="Calibri" pitchFamily="34" charset="-122"/>
                <a:cs typeface="Calibri" pitchFamily="34" charset="-120"/>
              </a:rPr>
              <a:t>Only one scheme — Sato–Shikata (2018) — is proved secure in the </a:t>
            </a:r>
            <a:pPr algn="ctr" indent="0" marL="0">
              <a:buNone/>
            </a:pPr>
            <a:r>
              <a:rPr lang="en-US" sz="1200" b="1" dirty="0">
                <a:solidFill>
                  <a:srgbClr val="2C5F2D"/>
                </a:solidFill>
                <a:latin typeface="Calibri" pitchFamily="34" charset="0"/>
                <a:ea typeface="Calibri" pitchFamily="34" charset="-122"/>
                <a:cs typeface="Calibri" pitchFamily="34" charset="-120"/>
              </a:rPr>
              <a:t>standard model</a:t>
            </a:r>
            <a:pPr algn="ctr" indent="0" marL="0">
              <a:buNone/>
            </a:pPr>
            <a:r>
              <a:rPr lang="en-US" sz="1200" dirty="0">
                <a:solidFill>
                  <a:srgbClr val="2F3C4F"/>
                </a:solidFill>
                <a:latin typeface="Calibri" pitchFamily="34" charset="0"/>
                <a:ea typeface="Calibri" pitchFamily="34" charset="-122"/>
                <a:cs typeface="Calibri" pitchFamily="34" charset="-120"/>
              </a:rPr>
              <a:t>; every classical construction depends on the ROM.</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E2761"/>
          </a:solidFill>
          <a:ln/>
        </p:spPr>
      </p:sp>
      <p:sp>
        <p:nvSpPr>
          <p:cNvPr id="3" name="Text 1"/>
          <p:cNvSpPr/>
          <p:nvPr/>
        </p:nvSpPr>
        <p:spPr>
          <a:xfrm>
            <a:off x="274320" y="4873752"/>
            <a:ext cx="6858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 Review of Signcryption  ·  BAHATI Justin  ·  MSE 9123</a:t>
            </a:r>
            <a:endParaRPr lang="en-US" sz="900" dirty="0"/>
          </a:p>
        </p:txBody>
      </p:sp>
      <p:sp>
        <p:nvSpPr>
          <p:cNvPr id="4" name="Text 2"/>
          <p:cNvSpPr/>
          <p:nvPr/>
        </p:nvSpPr>
        <p:spPr>
          <a:xfrm>
            <a:off x="7863840" y="4873752"/>
            <a:ext cx="100584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 / 14</a:t>
            </a:r>
            <a:endParaRPr lang="en-US" sz="900" dirty="0"/>
          </a:p>
        </p:txBody>
      </p:sp>
      <p:sp>
        <p:nvSpPr>
          <p:cNvPr id="5" name="Text 3"/>
          <p:cNvSpPr/>
          <p:nvPr/>
        </p:nvSpPr>
        <p:spPr>
          <a:xfrm>
            <a:off x="320040" y="274320"/>
            <a:ext cx="8503920" cy="640080"/>
          </a:xfrm>
          <a:prstGeom prst="rect">
            <a:avLst/>
          </a:prstGeom>
          <a:noFill/>
          <a:ln/>
        </p:spPr>
        <p:txBody>
          <a:bodyPr wrap="square" lIns="0" tIns="0" rIns="0" bIns="0" rtlCol="0" anchor="ctr"/>
          <a:lstStyle/>
          <a:p>
            <a:pPr algn="l" indent="0" marL="0">
              <a:buNone/>
            </a:pPr>
            <a:r>
              <a:rPr lang="en-US" sz="2600" b="1" dirty="0">
                <a:solidFill>
                  <a:srgbClr val="1E2761"/>
                </a:solidFill>
                <a:latin typeface="Georgia" pitchFamily="34" charset="0"/>
                <a:ea typeface="Georgia" pitchFamily="34" charset="-122"/>
                <a:cs typeface="Georgia" pitchFamily="34" charset="-120"/>
              </a:rPr>
              <a:t>The Central Puzzle: Why No Adoption?</a:t>
            </a:r>
            <a:endParaRPr lang="en-US" sz="2600" dirty="0"/>
          </a:p>
        </p:txBody>
      </p:sp>
      <p:sp>
        <p:nvSpPr>
          <p:cNvPr id="6" name="Shape 4"/>
          <p:cNvSpPr/>
          <p:nvPr/>
        </p:nvSpPr>
        <p:spPr>
          <a:xfrm>
            <a:off x="457200" y="1051560"/>
            <a:ext cx="8229600" cy="777240"/>
          </a:xfrm>
          <a:prstGeom prst="rect">
            <a:avLst/>
          </a:prstGeom>
          <a:solidFill>
            <a:srgbClr val="1E2761"/>
          </a:solidFill>
          <a:ln/>
        </p:spPr>
      </p:sp>
      <p:sp>
        <p:nvSpPr>
          <p:cNvPr id="7" name="Text 5"/>
          <p:cNvSpPr/>
          <p:nvPr/>
        </p:nvSpPr>
        <p:spPr>
          <a:xfrm>
            <a:off x="457200" y="1051560"/>
            <a:ext cx="8229600" cy="777240"/>
          </a:xfrm>
          <a:prstGeom prst="rect">
            <a:avLst/>
          </a:prstGeom>
          <a:noFill/>
          <a:ln/>
        </p:spPr>
        <p:txBody>
          <a:bodyPr wrap="square" lIns="0" tIns="0" rIns="0" bIns="0" rtlCol="0" anchor="ctr"/>
          <a:lstStyle/>
          <a:p>
            <a:pPr algn="ctr" indent="0" marL="0">
              <a:buNone/>
            </a:pPr>
            <a:r>
              <a:rPr lang="en-US" sz="1500" dirty="0">
                <a:solidFill>
                  <a:srgbClr val="CADCFC"/>
                </a:solidFill>
                <a:latin typeface="Georgia" pitchFamily="34" charset="0"/>
                <a:ea typeface="Georgia" pitchFamily="34" charset="-122"/>
                <a:cs typeface="Georgia" pitchFamily="34" charset="-120"/>
              </a:rPr>
              <a:t>Despite ISO/IEC 29150,  </a:t>
            </a:r>
            <a:pPr algn="ctr" indent="0" marL="0">
              <a:buNone/>
            </a:pPr>
            <a:r>
              <a:rPr lang="en-US" sz="1500" b="1" dirty="0">
                <a:solidFill>
                  <a:srgbClr val="FFFFFF"/>
                </a:solidFill>
                <a:latin typeface="Georgia" pitchFamily="34" charset="0"/>
                <a:ea typeface="Georgia" pitchFamily="34" charset="-122"/>
                <a:cs typeface="Georgia" pitchFamily="34" charset="-120"/>
              </a:rPr>
              <a:t>no </a:t>
            </a:r>
            <a:pPr algn="ctr" indent="0" marL="0">
              <a:buNone/>
            </a:pPr>
            <a:r>
              <a:rPr lang="en-US" sz="1500" dirty="0">
                <a:solidFill>
                  <a:srgbClr val="CADCFC"/>
                </a:solidFill>
                <a:latin typeface="Georgia" pitchFamily="34" charset="0"/>
                <a:ea typeface="Georgia" pitchFamily="34" charset="-122"/>
                <a:cs typeface="Georgia" pitchFamily="34" charset="-120"/>
              </a:rPr>
              <a:t>major cryptographic library implements signcryption.  </a:t>
            </a:r>
            <a:pPr algn="ctr" indent="0" marL="0">
              <a:buNone/>
            </a:pPr>
            <a:r>
              <a:rPr lang="en-US" sz="1500" b="1" dirty="0">
                <a:solidFill>
                  <a:srgbClr val="FFFFFF"/>
                </a:solidFill>
                <a:latin typeface="Georgia" pitchFamily="34" charset="0"/>
                <a:ea typeface="Georgia" pitchFamily="34" charset="-122"/>
                <a:cs typeface="Georgia" pitchFamily="34" charset="-120"/>
              </a:rPr>
              <a:t>No </a:t>
            </a:r>
            <a:pPr algn="ctr" indent="0" marL="0">
              <a:buNone/>
            </a:pPr>
            <a:r>
              <a:rPr lang="en-US" sz="1500" dirty="0">
                <a:solidFill>
                  <a:srgbClr val="CADCFC"/>
                </a:solidFill>
                <a:latin typeface="Georgia" pitchFamily="34" charset="0"/>
                <a:ea typeface="Georgia" pitchFamily="34" charset="-122"/>
                <a:cs typeface="Georgia" pitchFamily="34" charset="-120"/>
              </a:rPr>
              <a:t>widely deployed protocol uses it.</a:t>
            </a:r>
            <a:endParaRPr lang="en-US" sz="1500" dirty="0"/>
          </a:p>
        </p:txBody>
      </p:sp>
      <p:sp>
        <p:nvSpPr>
          <p:cNvPr id="8" name="Shape 6"/>
          <p:cNvSpPr/>
          <p:nvPr/>
        </p:nvSpPr>
        <p:spPr>
          <a:xfrm>
            <a:off x="457200" y="2103120"/>
            <a:ext cx="1600200" cy="73152"/>
          </a:xfrm>
          <a:prstGeom prst="rect">
            <a:avLst/>
          </a:prstGeom>
          <a:solidFill>
            <a:srgbClr val="3C5AA0"/>
          </a:solidFill>
          <a:ln/>
        </p:spPr>
      </p:sp>
      <p:sp>
        <p:nvSpPr>
          <p:cNvPr id="9" name="Shape 7"/>
          <p:cNvSpPr/>
          <p:nvPr/>
        </p:nvSpPr>
        <p:spPr>
          <a:xfrm>
            <a:off x="457200" y="2176272"/>
            <a:ext cx="1600200" cy="1920240"/>
          </a:xfrm>
          <a:prstGeom prst="rect">
            <a:avLst/>
          </a:prstGeom>
          <a:solidFill>
            <a:srgbClr val="F8FAFF"/>
          </a:solidFill>
          <a:ln w="12700">
            <a:solidFill>
              <a:srgbClr val="D5DEEF"/>
            </a:solidFill>
            <a:prstDash val="solid"/>
          </a:ln>
        </p:spPr>
      </p:sp>
      <p:sp>
        <p:nvSpPr>
          <p:cNvPr id="10" name="Text 8"/>
          <p:cNvSpPr/>
          <p:nvPr/>
        </p:nvSpPr>
        <p:spPr>
          <a:xfrm>
            <a:off x="457200" y="2286000"/>
            <a:ext cx="1600200" cy="365760"/>
          </a:xfrm>
          <a:prstGeom prst="rect">
            <a:avLst/>
          </a:prstGeom>
          <a:noFill/>
          <a:ln/>
        </p:spPr>
        <p:txBody>
          <a:bodyPr wrap="square" rtlCol="0" anchor="ctr"/>
          <a:lstStyle/>
          <a:p>
            <a:pPr algn="ctr" indent="0" marL="0">
              <a:buNone/>
            </a:pPr>
            <a:r>
              <a:rPr lang="en-US" sz="2400" b="1" dirty="0">
                <a:solidFill>
                  <a:srgbClr val="3C5AA0"/>
                </a:solidFill>
                <a:latin typeface="Georgia" pitchFamily="34" charset="0"/>
                <a:ea typeface="Georgia" pitchFamily="34" charset="-122"/>
                <a:cs typeface="Georgia" pitchFamily="34" charset="-120"/>
              </a:rPr>
              <a:t>1</a:t>
            </a:r>
            <a:endParaRPr lang="en-US" sz="2400" dirty="0"/>
          </a:p>
        </p:txBody>
      </p:sp>
      <p:sp>
        <p:nvSpPr>
          <p:cNvPr id="11" name="Text 9"/>
          <p:cNvSpPr/>
          <p:nvPr/>
        </p:nvSpPr>
        <p:spPr>
          <a:xfrm>
            <a:off x="502920" y="2697480"/>
            <a:ext cx="1508760" cy="685800"/>
          </a:xfrm>
          <a:prstGeom prst="rect">
            <a:avLst/>
          </a:prstGeom>
          <a:noFill/>
          <a:ln/>
        </p:spPr>
        <p:txBody>
          <a:bodyPr wrap="square" rtlCol="0" anchor="ctr"/>
          <a:lstStyle/>
          <a:p>
            <a:pPr algn="ctr" indent="0" marL="0">
              <a:buNone/>
            </a:pPr>
            <a:r>
              <a:rPr lang="en-US" sz="1200" b="1" dirty="0">
                <a:solidFill>
                  <a:srgbClr val="1E2761"/>
                </a:solidFill>
                <a:latin typeface="Georgia" pitchFamily="34" charset="0"/>
                <a:ea typeface="Georgia" pitchFamily="34" charset="-122"/>
                <a:cs typeface="Georgia" pitchFamily="34" charset="-120"/>
              </a:rPr>
              <a:t>Ecosystem</a:t>
            </a:r>
            <a:endParaRPr lang="en-US" sz="1200" dirty="0"/>
          </a:p>
          <a:p>
            <a:pPr algn="ctr" indent="0" marL="0">
              <a:buNone/>
            </a:pPr>
            <a:r>
              <a:rPr lang="en-US" sz="1200" b="1" dirty="0">
                <a:solidFill>
                  <a:srgbClr val="1E2761"/>
                </a:solidFill>
                <a:latin typeface="Georgia" pitchFamily="34" charset="0"/>
                <a:ea typeface="Georgia" pitchFamily="34" charset="-122"/>
                <a:cs typeface="Georgia" pitchFamily="34" charset="-120"/>
              </a:rPr>
              <a:t>Inertia</a:t>
            </a:r>
            <a:endParaRPr lang="en-US" sz="1200" dirty="0"/>
          </a:p>
        </p:txBody>
      </p:sp>
      <p:sp>
        <p:nvSpPr>
          <p:cNvPr id="12" name="Text 10"/>
          <p:cNvSpPr/>
          <p:nvPr/>
        </p:nvSpPr>
        <p:spPr>
          <a:xfrm>
            <a:off x="548640" y="3383280"/>
            <a:ext cx="1417320" cy="685800"/>
          </a:xfrm>
          <a:prstGeom prst="rect">
            <a:avLst/>
          </a:prstGeom>
          <a:noFill/>
          <a:ln/>
        </p:spPr>
        <p:txBody>
          <a:bodyPr wrap="square" rtlCol="0" anchor="t"/>
          <a:lstStyle/>
          <a:p>
            <a:pPr algn="ctr" indent="0" marL="0">
              <a:buNone/>
            </a:pPr>
            <a:r>
              <a:rPr lang="en-US" sz="1000" dirty="0">
                <a:solidFill>
                  <a:srgbClr val="2F3C4F"/>
                </a:solidFill>
                <a:latin typeface="Calibri" pitchFamily="34" charset="0"/>
                <a:ea typeface="Calibri" pitchFamily="34" charset="-122"/>
                <a:cs typeface="Calibri" pitchFamily="34" charset="-120"/>
              </a:rPr>
              <a:t>Stack optimized for separate primitives</a:t>
            </a:r>
            <a:endParaRPr lang="en-US" sz="1000" dirty="0"/>
          </a:p>
        </p:txBody>
      </p:sp>
      <p:sp>
        <p:nvSpPr>
          <p:cNvPr id="13" name="Shape 11"/>
          <p:cNvSpPr/>
          <p:nvPr/>
        </p:nvSpPr>
        <p:spPr>
          <a:xfrm>
            <a:off x="2103120" y="2103120"/>
            <a:ext cx="1600200" cy="73152"/>
          </a:xfrm>
          <a:prstGeom prst="rect">
            <a:avLst/>
          </a:prstGeom>
          <a:solidFill>
            <a:srgbClr val="3C5AA0"/>
          </a:solidFill>
          <a:ln/>
        </p:spPr>
      </p:sp>
      <p:sp>
        <p:nvSpPr>
          <p:cNvPr id="14" name="Shape 12"/>
          <p:cNvSpPr/>
          <p:nvPr/>
        </p:nvSpPr>
        <p:spPr>
          <a:xfrm>
            <a:off x="2103120" y="2176272"/>
            <a:ext cx="1600200" cy="1920240"/>
          </a:xfrm>
          <a:prstGeom prst="rect">
            <a:avLst/>
          </a:prstGeom>
          <a:solidFill>
            <a:srgbClr val="F8FAFF"/>
          </a:solidFill>
          <a:ln w="12700">
            <a:solidFill>
              <a:srgbClr val="D5DEEF"/>
            </a:solidFill>
            <a:prstDash val="solid"/>
          </a:ln>
        </p:spPr>
      </p:sp>
      <p:sp>
        <p:nvSpPr>
          <p:cNvPr id="15" name="Text 13"/>
          <p:cNvSpPr/>
          <p:nvPr/>
        </p:nvSpPr>
        <p:spPr>
          <a:xfrm>
            <a:off x="2103120" y="2286000"/>
            <a:ext cx="1600200" cy="365760"/>
          </a:xfrm>
          <a:prstGeom prst="rect">
            <a:avLst/>
          </a:prstGeom>
          <a:noFill/>
          <a:ln/>
        </p:spPr>
        <p:txBody>
          <a:bodyPr wrap="square" rtlCol="0" anchor="ctr"/>
          <a:lstStyle/>
          <a:p>
            <a:pPr algn="ctr" indent="0" marL="0">
              <a:buNone/>
            </a:pPr>
            <a:r>
              <a:rPr lang="en-US" sz="2400" b="1" dirty="0">
                <a:solidFill>
                  <a:srgbClr val="3C5AA0"/>
                </a:solidFill>
                <a:latin typeface="Georgia" pitchFamily="34" charset="0"/>
                <a:ea typeface="Georgia" pitchFamily="34" charset="-122"/>
                <a:cs typeface="Georgia" pitchFamily="34" charset="-120"/>
              </a:rPr>
              <a:t>2</a:t>
            </a:r>
            <a:endParaRPr lang="en-US" sz="2400" dirty="0"/>
          </a:p>
        </p:txBody>
      </p:sp>
      <p:sp>
        <p:nvSpPr>
          <p:cNvPr id="16" name="Text 14"/>
          <p:cNvSpPr/>
          <p:nvPr/>
        </p:nvSpPr>
        <p:spPr>
          <a:xfrm>
            <a:off x="2148840" y="2697480"/>
            <a:ext cx="1508760" cy="685800"/>
          </a:xfrm>
          <a:prstGeom prst="rect">
            <a:avLst/>
          </a:prstGeom>
          <a:noFill/>
          <a:ln/>
        </p:spPr>
        <p:txBody>
          <a:bodyPr wrap="square" rtlCol="0" anchor="ctr"/>
          <a:lstStyle/>
          <a:p>
            <a:pPr algn="ctr" indent="0" marL="0">
              <a:buNone/>
            </a:pPr>
            <a:r>
              <a:rPr lang="en-US" sz="1200" b="1" dirty="0">
                <a:solidFill>
                  <a:srgbClr val="1E2761"/>
                </a:solidFill>
                <a:latin typeface="Georgia" pitchFamily="34" charset="0"/>
                <a:ea typeface="Georgia" pitchFamily="34" charset="-122"/>
                <a:cs typeface="Georgia" pitchFamily="34" charset="-120"/>
              </a:rPr>
              <a:t>Modularity</a:t>
            </a:r>
            <a:endParaRPr lang="en-US" sz="1200" dirty="0"/>
          </a:p>
        </p:txBody>
      </p:sp>
      <p:sp>
        <p:nvSpPr>
          <p:cNvPr id="17" name="Text 15"/>
          <p:cNvSpPr/>
          <p:nvPr/>
        </p:nvSpPr>
        <p:spPr>
          <a:xfrm>
            <a:off x="2194560" y="3383280"/>
            <a:ext cx="1417320" cy="685800"/>
          </a:xfrm>
          <a:prstGeom prst="rect">
            <a:avLst/>
          </a:prstGeom>
          <a:noFill/>
          <a:ln/>
        </p:spPr>
        <p:txBody>
          <a:bodyPr wrap="square" rtlCol="0" anchor="t"/>
          <a:lstStyle/>
          <a:p>
            <a:pPr algn="ctr" indent="0" marL="0">
              <a:buNone/>
            </a:pPr>
            <a:r>
              <a:rPr lang="en-US" sz="1000" dirty="0">
                <a:solidFill>
                  <a:srgbClr val="2F3C4F"/>
                </a:solidFill>
                <a:latin typeface="Calibri" pitchFamily="34" charset="0"/>
                <a:ea typeface="Calibri" pitchFamily="34" charset="-122"/>
                <a:cs typeface="Calibri" pitchFamily="34" charset="-120"/>
              </a:rPr>
              <a:t>Coupling sig + enc kills algorithm agility</a:t>
            </a:r>
            <a:endParaRPr lang="en-US" sz="1000" dirty="0"/>
          </a:p>
        </p:txBody>
      </p:sp>
      <p:sp>
        <p:nvSpPr>
          <p:cNvPr id="18" name="Shape 16"/>
          <p:cNvSpPr/>
          <p:nvPr/>
        </p:nvSpPr>
        <p:spPr>
          <a:xfrm>
            <a:off x="3749040" y="2103120"/>
            <a:ext cx="1600200" cy="73152"/>
          </a:xfrm>
          <a:prstGeom prst="rect">
            <a:avLst/>
          </a:prstGeom>
          <a:solidFill>
            <a:srgbClr val="3C5AA0"/>
          </a:solidFill>
          <a:ln/>
        </p:spPr>
      </p:sp>
      <p:sp>
        <p:nvSpPr>
          <p:cNvPr id="19" name="Shape 17"/>
          <p:cNvSpPr/>
          <p:nvPr/>
        </p:nvSpPr>
        <p:spPr>
          <a:xfrm>
            <a:off x="3749040" y="2176272"/>
            <a:ext cx="1600200" cy="1920240"/>
          </a:xfrm>
          <a:prstGeom prst="rect">
            <a:avLst/>
          </a:prstGeom>
          <a:solidFill>
            <a:srgbClr val="F8FAFF"/>
          </a:solidFill>
          <a:ln w="12700">
            <a:solidFill>
              <a:srgbClr val="D5DEEF"/>
            </a:solidFill>
            <a:prstDash val="solid"/>
          </a:ln>
        </p:spPr>
      </p:sp>
      <p:sp>
        <p:nvSpPr>
          <p:cNvPr id="20" name="Text 18"/>
          <p:cNvSpPr/>
          <p:nvPr/>
        </p:nvSpPr>
        <p:spPr>
          <a:xfrm>
            <a:off x="3749040" y="2286000"/>
            <a:ext cx="1600200" cy="365760"/>
          </a:xfrm>
          <a:prstGeom prst="rect">
            <a:avLst/>
          </a:prstGeom>
          <a:noFill/>
          <a:ln/>
        </p:spPr>
        <p:txBody>
          <a:bodyPr wrap="square" rtlCol="0" anchor="ctr"/>
          <a:lstStyle/>
          <a:p>
            <a:pPr algn="ctr" indent="0" marL="0">
              <a:buNone/>
            </a:pPr>
            <a:r>
              <a:rPr lang="en-US" sz="2400" b="1" dirty="0">
                <a:solidFill>
                  <a:srgbClr val="3C5AA0"/>
                </a:solidFill>
                <a:latin typeface="Georgia" pitchFamily="34" charset="0"/>
                <a:ea typeface="Georgia" pitchFamily="34" charset="-122"/>
                <a:cs typeface="Georgia" pitchFamily="34" charset="-120"/>
              </a:rPr>
              <a:t>3</a:t>
            </a:r>
            <a:endParaRPr lang="en-US" sz="2400" dirty="0"/>
          </a:p>
        </p:txBody>
      </p:sp>
      <p:sp>
        <p:nvSpPr>
          <p:cNvPr id="21" name="Text 19"/>
          <p:cNvSpPr/>
          <p:nvPr/>
        </p:nvSpPr>
        <p:spPr>
          <a:xfrm>
            <a:off x="3794760" y="2697480"/>
            <a:ext cx="1508760" cy="685800"/>
          </a:xfrm>
          <a:prstGeom prst="rect">
            <a:avLst/>
          </a:prstGeom>
          <a:noFill/>
          <a:ln/>
        </p:spPr>
        <p:txBody>
          <a:bodyPr wrap="square" rtlCol="0" anchor="ctr"/>
          <a:lstStyle/>
          <a:p>
            <a:pPr algn="ctr" indent="0" marL="0">
              <a:buNone/>
            </a:pPr>
            <a:r>
              <a:rPr lang="en-US" sz="1200" b="1" dirty="0">
                <a:solidFill>
                  <a:srgbClr val="1E2761"/>
                </a:solidFill>
                <a:latin typeface="Georgia" pitchFamily="34" charset="0"/>
                <a:ea typeface="Georgia" pitchFamily="34" charset="-122"/>
                <a:cs typeface="Georgia" pitchFamily="34" charset="-120"/>
              </a:rPr>
              <a:t>AEAD &amp;</a:t>
            </a:r>
            <a:endParaRPr lang="en-US" sz="1200" dirty="0"/>
          </a:p>
          <a:p>
            <a:pPr algn="ctr" indent="0" marL="0">
              <a:buNone/>
            </a:pPr>
            <a:r>
              <a:rPr lang="en-US" sz="1200" b="1" dirty="0">
                <a:solidFill>
                  <a:srgbClr val="1E2761"/>
                </a:solidFill>
                <a:latin typeface="Georgia" pitchFamily="34" charset="0"/>
                <a:ea typeface="Georgia" pitchFamily="34" charset="-122"/>
                <a:cs typeface="Georgia" pitchFamily="34" charset="-120"/>
              </a:rPr>
              <a:t>Hardware</a:t>
            </a:r>
            <a:endParaRPr lang="en-US" sz="1200" dirty="0"/>
          </a:p>
        </p:txBody>
      </p:sp>
      <p:sp>
        <p:nvSpPr>
          <p:cNvPr id="22" name="Text 20"/>
          <p:cNvSpPr/>
          <p:nvPr/>
        </p:nvSpPr>
        <p:spPr>
          <a:xfrm>
            <a:off x="3840480" y="3383280"/>
            <a:ext cx="1417320" cy="685800"/>
          </a:xfrm>
          <a:prstGeom prst="rect">
            <a:avLst/>
          </a:prstGeom>
          <a:noFill/>
          <a:ln/>
        </p:spPr>
        <p:txBody>
          <a:bodyPr wrap="square" rtlCol="0" anchor="t"/>
          <a:lstStyle/>
          <a:p>
            <a:pPr algn="ctr" indent="0" marL="0">
              <a:buNone/>
            </a:pPr>
            <a:r>
              <a:rPr lang="en-US" sz="1000" dirty="0">
                <a:solidFill>
                  <a:srgbClr val="2F3C4F"/>
                </a:solidFill>
                <a:latin typeface="Calibri" pitchFamily="34" charset="0"/>
                <a:ea typeface="Calibri" pitchFamily="34" charset="-122"/>
                <a:cs typeface="Calibri" pitchFamily="34" charset="-120"/>
              </a:rPr>
              <a:t>AES-NI erased the efficiency margin</a:t>
            </a:r>
            <a:endParaRPr lang="en-US" sz="1000" dirty="0"/>
          </a:p>
        </p:txBody>
      </p:sp>
      <p:sp>
        <p:nvSpPr>
          <p:cNvPr id="23" name="Shape 21"/>
          <p:cNvSpPr/>
          <p:nvPr/>
        </p:nvSpPr>
        <p:spPr>
          <a:xfrm>
            <a:off x="5394960" y="2103120"/>
            <a:ext cx="1600200" cy="73152"/>
          </a:xfrm>
          <a:prstGeom prst="rect">
            <a:avLst/>
          </a:prstGeom>
          <a:solidFill>
            <a:srgbClr val="3C5AA0"/>
          </a:solidFill>
          <a:ln/>
        </p:spPr>
      </p:sp>
      <p:sp>
        <p:nvSpPr>
          <p:cNvPr id="24" name="Shape 22"/>
          <p:cNvSpPr/>
          <p:nvPr/>
        </p:nvSpPr>
        <p:spPr>
          <a:xfrm>
            <a:off x="5394960" y="2176272"/>
            <a:ext cx="1600200" cy="1920240"/>
          </a:xfrm>
          <a:prstGeom prst="rect">
            <a:avLst/>
          </a:prstGeom>
          <a:solidFill>
            <a:srgbClr val="F8FAFF"/>
          </a:solidFill>
          <a:ln w="12700">
            <a:solidFill>
              <a:srgbClr val="D5DEEF"/>
            </a:solidFill>
            <a:prstDash val="solid"/>
          </a:ln>
        </p:spPr>
      </p:sp>
      <p:sp>
        <p:nvSpPr>
          <p:cNvPr id="25" name="Text 23"/>
          <p:cNvSpPr/>
          <p:nvPr/>
        </p:nvSpPr>
        <p:spPr>
          <a:xfrm>
            <a:off x="5394960" y="2286000"/>
            <a:ext cx="1600200" cy="365760"/>
          </a:xfrm>
          <a:prstGeom prst="rect">
            <a:avLst/>
          </a:prstGeom>
          <a:noFill/>
          <a:ln/>
        </p:spPr>
        <p:txBody>
          <a:bodyPr wrap="square" rtlCol="0" anchor="ctr"/>
          <a:lstStyle/>
          <a:p>
            <a:pPr algn="ctr" indent="0" marL="0">
              <a:buNone/>
            </a:pPr>
            <a:r>
              <a:rPr lang="en-US" sz="2400" b="1" dirty="0">
                <a:solidFill>
                  <a:srgbClr val="3C5AA0"/>
                </a:solidFill>
                <a:latin typeface="Georgia" pitchFamily="34" charset="0"/>
                <a:ea typeface="Georgia" pitchFamily="34" charset="-122"/>
                <a:cs typeface="Georgia" pitchFamily="34" charset="-120"/>
              </a:rPr>
              <a:t>4</a:t>
            </a:r>
            <a:endParaRPr lang="en-US" sz="2400" dirty="0"/>
          </a:p>
        </p:txBody>
      </p:sp>
      <p:sp>
        <p:nvSpPr>
          <p:cNvPr id="26" name="Text 24"/>
          <p:cNvSpPr/>
          <p:nvPr/>
        </p:nvSpPr>
        <p:spPr>
          <a:xfrm>
            <a:off x="5440680" y="2697480"/>
            <a:ext cx="1508760" cy="685800"/>
          </a:xfrm>
          <a:prstGeom prst="rect">
            <a:avLst/>
          </a:prstGeom>
          <a:noFill/>
          <a:ln/>
        </p:spPr>
        <p:txBody>
          <a:bodyPr wrap="square" rtlCol="0" anchor="ctr"/>
          <a:lstStyle/>
          <a:p>
            <a:pPr algn="ctr" indent="0" marL="0">
              <a:buNone/>
            </a:pPr>
            <a:r>
              <a:rPr lang="en-US" sz="1200" b="1" dirty="0">
                <a:solidFill>
                  <a:srgbClr val="1E2761"/>
                </a:solidFill>
                <a:latin typeface="Georgia" pitchFamily="34" charset="0"/>
                <a:ea typeface="Georgia" pitchFamily="34" charset="-122"/>
                <a:cs typeface="Georgia" pitchFamily="34" charset="-120"/>
              </a:rPr>
              <a:t>Security-Model</a:t>
            </a:r>
            <a:endParaRPr lang="en-US" sz="1200" dirty="0"/>
          </a:p>
          <a:p>
            <a:pPr algn="ctr" indent="0" marL="0">
              <a:buNone/>
            </a:pPr>
            <a:r>
              <a:rPr lang="en-US" sz="1200" b="1" dirty="0">
                <a:solidFill>
                  <a:srgbClr val="1E2761"/>
                </a:solidFill>
                <a:latin typeface="Georgia" pitchFamily="34" charset="0"/>
                <a:ea typeface="Georgia" pitchFamily="34" charset="-122"/>
                <a:cs typeface="Georgia" pitchFamily="34" charset="-120"/>
              </a:rPr>
              <a:t>Complexity</a:t>
            </a:r>
            <a:endParaRPr lang="en-US" sz="1200" dirty="0"/>
          </a:p>
        </p:txBody>
      </p:sp>
      <p:sp>
        <p:nvSpPr>
          <p:cNvPr id="27" name="Text 25"/>
          <p:cNvSpPr/>
          <p:nvPr/>
        </p:nvSpPr>
        <p:spPr>
          <a:xfrm>
            <a:off x="5486400" y="3383280"/>
            <a:ext cx="1417320" cy="685800"/>
          </a:xfrm>
          <a:prstGeom prst="rect">
            <a:avLst/>
          </a:prstGeom>
          <a:noFill/>
          <a:ln/>
        </p:spPr>
        <p:txBody>
          <a:bodyPr wrap="square" rtlCol="0" anchor="t"/>
          <a:lstStyle/>
          <a:p>
            <a:pPr algn="ctr" indent="0" marL="0">
              <a:buNone/>
            </a:pPr>
            <a:r>
              <a:rPr lang="en-US" sz="1000" dirty="0">
                <a:solidFill>
                  <a:srgbClr val="2F3C4F"/>
                </a:solidFill>
                <a:latin typeface="Calibri" pitchFamily="34" charset="0"/>
                <a:ea typeface="Calibri" pitchFamily="34" charset="-122"/>
                <a:cs typeface="Calibri" pitchFamily="34" charset="-120"/>
              </a:rPr>
              <a:t>Insider/outsider, CCA2 variants — subtle</a:t>
            </a:r>
            <a:endParaRPr lang="en-US" sz="1000" dirty="0"/>
          </a:p>
        </p:txBody>
      </p:sp>
      <p:sp>
        <p:nvSpPr>
          <p:cNvPr id="28" name="Shape 26"/>
          <p:cNvSpPr/>
          <p:nvPr/>
        </p:nvSpPr>
        <p:spPr>
          <a:xfrm>
            <a:off x="7040880" y="2103120"/>
            <a:ext cx="1600200" cy="73152"/>
          </a:xfrm>
          <a:prstGeom prst="rect">
            <a:avLst/>
          </a:prstGeom>
          <a:solidFill>
            <a:srgbClr val="3C5AA0"/>
          </a:solidFill>
          <a:ln/>
        </p:spPr>
      </p:sp>
      <p:sp>
        <p:nvSpPr>
          <p:cNvPr id="29" name="Shape 27"/>
          <p:cNvSpPr/>
          <p:nvPr/>
        </p:nvSpPr>
        <p:spPr>
          <a:xfrm>
            <a:off x="7040880" y="2176272"/>
            <a:ext cx="1600200" cy="1920240"/>
          </a:xfrm>
          <a:prstGeom prst="rect">
            <a:avLst/>
          </a:prstGeom>
          <a:solidFill>
            <a:srgbClr val="F8FAFF"/>
          </a:solidFill>
          <a:ln w="12700">
            <a:solidFill>
              <a:srgbClr val="D5DEEF"/>
            </a:solidFill>
            <a:prstDash val="solid"/>
          </a:ln>
        </p:spPr>
      </p:sp>
      <p:sp>
        <p:nvSpPr>
          <p:cNvPr id="30" name="Text 28"/>
          <p:cNvSpPr/>
          <p:nvPr/>
        </p:nvSpPr>
        <p:spPr>
          <a:xfrm>
            <a:off x="7040880" y="2286000"/>
            <a:ext cx="1600200" cy="365760"/>
          </a:xfrm>
          <a:prstGeom prst="rect">
            <a:avLst/>
          </a:prstGeom>
          <a:noFill/>
          <a:ln/>
        </p:spPr>
        <p:txBody>
          <a:bodyPr wrap="square" rtlCol="0" anchor="ctr"/>
          <a:lstStyle/>
          <a:p>
            <a:pPr algn="ctr" indent="0" marL="0">
              <a:buNone/>
            </a:pPr>
            <a:r>
              <a:rPr lang="en-US" sz="2400" b="1" dirty="0">
                <a:solidFill>
                  <a:srgbClr val="3C5AA0"/>
                </a:solidFill>
                <a:latin typeface="Georgia" pitchFamily="34" charset="0"/>
                <a:ea typeface="Georgia" pitchFamily="34" charset="-122"/>
                <a:cs typeface="Georgia" pitchFamily="34" charset="-120"/>
              </a:rPr>
              <a:t>5</a:t>
            </a:r>
            <a:endParaRPr lang="en-US" sz="2400" dirty="0"/>
          </a:p>
        </p:txBody>
      </p:sp>
      <p:sp>
        <p:nvSpPr>
          <p:cNvPr id="31" name="Text 29"/>
          <p:cNvSpPr/>
          <p:nvPr/>
        </p:nvSpPr>
        <p:spPr>
          <a:xfrm>
            <a:off x="7086600" y="2697480"/>
            <a:ext cx="1508760" cy="685800"/>
          </a:xfrm>
          <a:prstGeom prst="rect">
            <a:avLst/>
          </a:prstGeom>
          <a:noFill/>
          <a:ln/>
        </p:spPr>
        <p:txBody>
          <a:bodyPr wrap="square" rtlCol="0" anchor="ctr"/>
          <a:lstStyle/>
          <a:p>
            <a:pPr algn="ctr" indent="0" marL="0">
              <a:buNone/>
            </a:pPr>
            <a:r>
              <a:rPr lang="en-US" sz="1200" b="1" dirty="0">
                <a:solidFill>
                  <a:srgbClr val="1E2761"/>
                </a:solidFill>
                <a:latin typeface="Georgia" pitchFamily="34" charset="0"/>
                <a:ea typeface="Georgia" pitchFamily="34" charset="-122"/>
                <a:cs typeface="Georgia" pitchFamily="34" charset="-120"/>
              </a:rPr>
              <a:t>Post-Quantum</a:t>
            </a:r>
            <a:endParaRPr lang="en-US" sz="1200" dirty="0"/>
          </a:p>
          <a:p>
            <a:pPr algn="ctr" indent="0" marL="0">
              <a:buNone/>
            </a:pPr>
            <a:r>
              <a:rPr lang="en-US" sz="1200" b="1" dirty="0">
                <a:solidFill>
                  <a:srgbClr val="1E2761"/>
                </a:solidFill>
                <a:latin typeface="Georgia" pitchFamily="34" charset="0"/>
                <a:ea typeface="Georgia" pitchFamily="34" charset="-122"/>
                <a:cs typeface="Georgia" pitchFamily="34" charset="-120"/>
              </a:rPr>
              <a:t>Uncertainty</a:t>
            </a:r>
            <a:endParaRPr lang="en-US" sz="1200" dirty="0"/>
          </a:p>
        </p:txBody>
      </p:sp>
      <p:sp>
        <p:nvSpPr>
          <p:cNvPr id="32" name="Text 30"/>
          <p:cNvSpPr/>
          <p:nvPr/>
        </p:nvSpPr>
        <p:spPr>
          <a:xfrm>
            <a:off x="7132320" y="3383280"/>
            <a:ext cx="1417320" cy="685800"/>
          </a:xfrm>
          <a:prstGeom prst="rect">
            <a:avLst/>
          </a:prstGeom>
          <a:noFill/>
          <a:ln/>
        </p:spPr>
        <p:txBody>
          <a:bodyPr wrap="square" rtlCol="0" anchor="t"/>
          <a:lstStyle/>
          <a:p>
            <a:pPr algn="ctr" indent="0" marL="0">
              <a:buNone/>
            </a:pPr>
            <a:r>
              <a:rPr lang="en-US" sz="1000" dirty="0">
                <a:solidFill>
                  <a:srgbClr val="2F3C4F"/>
                </a:solidFill>
                <a:latin typeface="Calibri" pitchFamily="34" charset="0"/>
                <a:ea typeface="Calibri" pitchFamily="34" charset="-122"/>
                <a:cs typeface="Calibri" pitchFamily="34" charset="-120"/>
              </a:rPr>
              <a:t>Classical assumptions fall to Shor</a:t>
            </a:r>
            <a:endParaRPr lang="en-US" sz="1000" dirty="0"/>
          </a:p>
        </p:txBody>
      </p:sp>
      <p:sp>
        <p:nvSpPr>
          <p:cNvPr id="33" name="Text 31"/>
          <p:cNvSpPr/>
          <p:nvPr/>
        </p:nvSpPr>
        <p:spPr>
          <a:xfrm>
            <a:off x="457200" y="4206240"/>
            <a:ext cx="8229600" cy="457200"/>
          </a:xfrm>
          <a:prstGeom prst="rect">
            <a:avLst/>
          </a:prstGeom>
          <a:noFill/>
          <a:ln/>
        </p:spPr>
        <p:txBody>
          <a:bodyPr wrap="square" rtlCol="0" anchor="ctr"/>
          <a:lstStyle/>
          <a:p>
            <a:pPr algn="ctr" indent="0" marL="0">
              <a:buNone/>
            </a:pPr>
            <a:r>
              <a:rPr lang="en-US" sz="1100" b="1" i="1" dirty="0">
                <a:solidFill>
                  <a:srgbClr val="1E2761"/>
                </a:solidFill>
                <a:latin typeface="Calibri" pitchFamily="34" charset="0"/>
                <a:ea typeface="Calibri" pitchFamily="34" charset="-122"/>
                <a:cs typeface="Calibri" pitchFamily="34" charset="-120"/>
              </a:rPr>
              <a:t>Thesis: </a:t>
            </a:r>
            <a:pPr algn="ctr" indent="0" marL="0">
              <a:buNone/>
            </a:pPr>
            <a:r>
              <a:rPr lang="en-US" sz="1100" i="1" dirty="0">
                <a:solidFill>
                  <a:srgbClr val="2F3C4F"/>
                </a:solidFill>
                <a:latin typeface="Calibri" pitchFamily="34" charset="0"/>
                <a:ea typeface="Calibri" pitchFamily="34" charset="-122"/>
                <a:cs typeface="Calibri" pitchFamily="34" charset="-120"/>
              </a:rPr>
              <a:t>the deployment failure is fundamentally a </a:t>
            </a:r>
            <a:pPr algn="ctr" indent="0" marL="0">
              <a:buNone/>
            </a:pPr>
            <a:r>
              <a:rPr lang="en-US" sz="1100" b="1" i="1" dirty="0">
                <a:solidFill>
                  <a:srgbClr val="D4A017"/>
                </a:solidFill>
                <a:latin typeface="Calibri" pitchFamily="34" charset="0"/>
                <a:ea typeface="Calibri" pitchFamily="34" charset="-122"/>
                <a:cs typeface="Calibri" pitchFamily="34" charset="-120"/>
              </a:rPr>
              <a:t>security-model communication failure</a:t>
            </a:r>
            <a:pPr algn="ctr" indent="0" marL="0">
              <a:buNone/>
            </a:pPr>
            <a:r>
              <a:rPr lang="en-US" sz="1100" i="1" dirty="0">
                <a:solidFill>
                  <a:srgbClr val="2F3C4F"/>
                </a:solidFill>
                <a:latin typeface="Calibri" pitchFamily="34" charset="0"/>
                <a:ea typeface="Calibri" pitchFamily="34" charset="-122"/>
                <a:cs typeface="Calibri" pitchFamily="34" charset="-120"/>
              </a:rPr>
              <a:t>  —  no crisp answer for “what does this buy me beyond ECDH + ECDSA?”</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E2761"/>
          </a:solidFill>
          <a:ln/>
        </p:spPr>
      </p:sp>
      <p:sp>
        <p:nvSpPr>
          <p:cNvPr id="3" name="Text 1"/>
          <p:cNvSpPr/>
          <p:nvPr/>
        </p:nvSpPr>
        <p:spPr>
          <a:xfrm>
            <a:off x="274320" y="4873752"/>
            <a:ext cx="6858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 Review of Signcryption  ·  BAHATI Justin  ·  MSE 9123</a:t>
            </a:r>
            <a:endParaRPr lang="en-US" sz="900" dirty="0"/>
          </a:p>
        </p:txBody>
      </p:sp>
      <p:sp>
        <p:nvSpPr>
          <p:cNvPr id="4" name="Text 2"/>
          <p:cNvSpPr/>
          <p:nvPr/>
        </p:nvSpPr>
        <p:spPr>
          <a:xfrm>
            <a:off x="7863840" y="4873752"/>
            <a:ext cx="100584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 / 14</a:t>
            </a:r>
            <a:endParaRPr lang="en-US" sz="900" dirty="0"/>
          </a:p>
        </p:txBody>
      </p:sp>
      <p:sp>
        <p:nvSpPr>
          <p:cNvPr id="5" name="Text 3"/>
          <p:cNvSpPr/>
          <p:nvPr/>
        </p:nvSpPr>
        <p:spPr>
          <a:xfrm>
            <a:off x="320040" y="274320"/>
            <a:ext cx="8503920" cy="640080"/>
          </a:xfrm>
          <a:prstGeom prst="rect">
            <a:avLst/>
          </a:prstGeom>
          <a:noFill/>
          <a:ln/>
        </p:spPr>
        <p:txBody>
          <a:bodyPr wrap="square" lIns="0" tIns="0" rIns="0" bIns="0" rtlCol="0" anchor="ctr"/>
          <a:lstStyle/>
          <a:p>
            <a:pPr algn="l" indent="0" marL="0">
              <a:buNone/>
            </a:pPr>
            <a:r>
              <a:rPr lang="en-US" sz="2600" b="1" dirty="0">
                <a:solidFill>
                  <a:srgbClr val="1E2761"/>
                </a:solidFill>
                <a:latin typeface="Georgia" pitchFamily="34" charset="0"/>
                <a:ea typeface="Georgia" pitchFamily="34" charset="-122"/>
                <a:cs typeface="Georgia" pitchFamily="34" charset="-120"/>
              </a:rPr>
              <a:t>Adoption Follows Resource Constraint</a:t>
            </a:r>
            <a:endParaRPr lang="en-US" sz="2600" dirty="0"/>
          </a:p>
        </p:txBody>
      </p:sp>
      <p:sp>
        <p:nvSpPr>
          <p:cNvPr id="6" name="Shape 4"/>
          <p:cNvSpPr/>
          <p:nvPr/>
        </p:nvSpPr>
        <p:spPr>
          <a:xfrm>
            <a:off x="731520" y="2468880"/>
            <a:ext cx="1536192" cy="457200"/>
          </a:xfrm>
          <a:prstGeom prst="rect">
            <a:avLst/>
          </a:prstGeom>
          <a:solidFill>
            <a:srgbClr val="EEE7E5"/>
          </a:solidFill>
          <a:ln/>
        </p:spPr>
      </p:sp>
      <p:sp>
        <p:nvSpPr>
          <p:cNvPr id="7" name="Shape 5"/>
          <p:cNvSpPr/>
          <p:nvPr/>
        </p:nvSpPr>
        <p:spPr>
          <a:xfrm>
            <a:off x="2267712" y="2468880"/>
            <a:ext cx="1536192" cy="457200"/>
          </a:xfrm>
          <a:prstGeom prst="rect">
            <a:avLst/>
          </a:prstGeom>
          <a:solidFill>
            <a:srgbClr val="F0E6D2"/>
          </a:solidFill>
          <a:ln/>
        </p:spPr>
      </p:sp>
      <p:sp>
        <p:nvSpPr>
          <p:cNvPr id="8" name="Shape 6"/>
          <p:cNvSpPr/>
          <p:nvPr/>
        </p:nvSpPr>
        <p:spPr>
          <a:xfrm>
            <a:off x="3803904" y="2468880"/>
            <a:ext cx="1536192" cy="457200"/>
          </a:xfrm>
          <a:prstGeom prst="rect">
            <a:avLst/>
          </a:prstGeom>
          <a:solidFill>
            <a:srgbClr val="F7E99E"/>
          </a:solidFill>
          <a:ln/>
        </p:spPr>
      </p:sp>
      <p:sp>
        <p:nvSpPr>
          <p:cNvPr id="9" name="Shape 7"/>
          <p:cNvSpPr/>
          <p:nvPr/>
        </p:nvSpPr>
        <p:spPr>
          <a:xfrm>
            <a:off x="5340096" y="2468880"/>
            <a:ext cx="1536192" cy="457200"/>
          </a:xfrm>
          <a:prstGeom prst="rect">
            <a:avLst/>
          </a:prstGeom>
          <a:solidFill>
            <a:srgbClr val="CCE0BF"/>
          </a:solidFill>
          <a:ln/>
        </p:spPr>
      </p:sp>
      <p:sp>
        <p:nvSpPr>
          <p:cNvPr id="10" name="Shape 8"/>
          <p:cNvSpPr/>
          <p:nvPr/>
        </p:nvSpPr>
        <p:spPr>
          <a:xfrm>
            <a:off x="6876288" y="2468880"/>
            <a:ext cx="1536192" cy="457200"/>
          </a:xfrm>
          <a:prstGeom prst="rect">
            <a:avLst/>
          </a:prstGeom>
          <a:solidFill>
            <a:srgbClr val="A8CF96"/>
          </a:solidFill>
          <a:ln/>
        </p:spPr>
      </p:sp>
      <p:sp>
        <p:nvSpPr>
          <p:cNvPr id="11" name="Shape 9"/>
          <p:cNvSpPr/>
          <p:nvPr/>
        </p:nvSpPr>
        <p:spPr>
          <a:xfrm>
            <a:off x="731520" y="2468880"/>
            <a:ext cx="7680960" cy="457200"/>
          </a:xfrm>
          <a:prstGeom prst="rect">
            <a:avLst/>
          </a:prstGeom>
          <a:ln w="12700">
            <a:solidFill>
              <a:srgbClr val="6B7280"/>
            </a:solidFill>
            <a:prstDash val="solid"/>
          </a:ln>
        </p:spPr>
      </p:sp>
      <p:sp>
        <p:nvSpPr>
          <p:cNvPr id="12" name="Text 10"/>
          <p:cNvSpPr/>
          <p:nvPr/>
        </p:nvSpPr>
        <p:spPr>
          <a:xfrm>
            <a:off x="731520" y="2468880"/>
            <a:ext cx="1536192" cy="457200"/>
          </a:xfrm>
          <a:prstGeom prst="rect">
            <a:avLst/>
          </a:prstGeom>
          <a:noFill/>
          <a:ln/>
        </p:spPr>
        <p:txBody>
          <a:bodyPr wrap="square" lIns="0" tIns="0" rIns="0" bIns="0" rtlCol="0" anchor="ctr"/>
          <a:lstStyle/>
          <a:p>
            <a:pPr algn="ctr" indent="0" marL="0">
              <a:buNone/>
            </a:pPr>
            <a:r>
              <a:rPr lang="en-US" sz="1200" b="1" dirty="0">
                <a:solidFill>
                  <a:srgbClr val="B85042"/>
                </a:solidFill>
                <a:latin typeface="Calibri" pitchFamily="34" charset="0"/>
                <a:ea typeface="Calibri" pitchFamily="34" charset="-122"/>
                <a:cs typeface="Calibri" pitchFamily="34" charset="-120"/>
              </a:rPr>
              <a:t>No adoption</a:t>
            </a:r>
            <a:endParaRPr lang="en-US" sz="1200" dirty="0"/>
          </a:p>
        </p:txBody>
      </p:sp>
      <p:sp>
        <p:nvSpPr>
          <p:cNvPr id="13" name="Text 11"/>
          <p:cNvSpPr/>
          <p:nvPr/>
        </p:nvSpPr>
        <p:spPr>
          <a:xfrm>
            <a:off x="6876288" y="2468880"/>
            <a:ext cx="1536192" cy="457200"/>
          </a:xfrm>
          <a:prstGeom prst="rect">
            <a:avLst/>
          </a:prstGeom>
          <a:noFill/>
          <a:ln/>
        </p:spPr>
        <p:txBody>
          <a:bodyPr wrap="square" lIns="0" tIns="0" rIns="0" bIns="0" rtlCol="0" anchor="ctr"/>
          <a:lstStyle/>
          <a:p>
            <a:pPr algn="ctr" indent="0" marL="0">
              <a:buNone/>
            </a:pPr>
            <a:r>
              <a:rPr lang="en-US" sz="1200" b="1" dirty="0">
                <a:solidFill>
                  <a:srgbClr val="2C5F2D"/>
                </a:solidFill>
                <a:latin typeface="Calibri" pitchFamily="34" charset="0"/>
                <a:ea typeface="Calibri" pitchFamily="34" charset="-122"/>
                <a:cs typeface="Calibri" pitchFamily="34" charset="-120"/>
              </a:rPr>
              <a:t>Active adoption</a:t>
            </a:r>
            <a:endParaRPr lang="en-US" sz="1200" dirty="0"/>
          </a:p>
        </p:txBody>
      </p:sp>
      <p:sp>
        <p:nvSpPr>
          <p:cNvPr id="14" name="Shape 12"/>
          <p:cNvSpPr/>
          <p:nvPr/>
        </p:nvSpPr>
        <p:spPr>
          <a:xfrm>
            <a:off x="594360" y="1417320"/>
            <a:ext cx="1188720" cy="457200"/>
          </a:xfrm>
          <a:prstGeom prst="roundRect">
            <a:avLst>
              <a:gd name="adj" fmla="val 12000"/>
            </a:avLst>
          </a:prstGeom>
          <a:solidFill>
            <a:srgbClr val="FFFFFF"/>
          </a:solidFill>
          <a:ln w="19050">
            <a:solidFill>
              <a:srgbClr val="B85042"/>
            </a:solidFill>
            <a:prstDash val="solid"/>
          </a:ln>
        </p:spPr>
      </p:sp>
      <p:sp>
        <p:nvSpPr>
          <p:cNvPr id="15" name="Text 13"/>
          <p:cNvSpPr/>
          <p:nvPr/>
        </p:nvSpPr>
        <p:spPr>
          <a:xfrm>
            <a:off x="594360" y="1417320"/>
            <a:ext cx="1188720" cy="457200"/>
          </a:xfrm>
          <a:prstGeom prst="rect">
            <a:avLst/>
          </a:prstGeom>
          <a:noFill/>
          <a:ln/>
        </p:spPr>
        <p:txBody>
          <a:bodyPr wrap="square" lIns="0" tIns="0" rIns="0" bIns="0" rtlCol="0" anchor="ctr"/>
          <a:lstStyle/>
          <a:p>
            <a:pPr algn="ctr" indent="0" marL="0">
              <a:buNone/>
            </a:pPr>
            <a:r>
              <a:rPr lang="en-US" sz="1000" b="1" dirty="0">
                <a:solidFill>
                  <a:srgbClr val="B85042"/>
                </a:solidFill>
                <a:latin typeface="Calibri" pitchFamily="34" charset="0"/>
                <a:ea typeface="Calibri" pitchFamily="34" charset="-122"/>
                <a:cs typeface="Calibri" pitchFamily="34" charset="-120"/>
              </a:rPr>
              <a:t>TLS / HTTPS</a:t>
            </a:r>
            <a:endParaRPr lang="en-US" sz="1000" dirty="0"/>
          </a:p>
        </p:txBody>
      </p:sp>
      <p:sp>
        <p:nvSpPr>
          <p:cNvPr id="16" name="Shape 14"/>
          <p:cNvSpPr/>
          <p:nvPr/>
        </p:nvSpPr>
        <p:spPr>
          <a:xfrm>
            <a:off x="1188720" y="1874520"/>
            <a:ext cx="0" cy="594360"/>
          </a:xfrm>
          <a:prstGeom prst="line">
            <a:avLst/>
          </a:prstGeom>
          <a:noFill/>
          <a:ln w="12700">
            <a:solidFill>
              <a:srgbClr val="D5DEEF"/>
            </a:solidFill>
            <a:prstDash val="dash"/>
          </a:ln>
        </p:spPr>
      </p:sp>
      <p:sp>
        <p:nvSpPr>
          <p:cNvPr id="17" name="Shape 15"/>
          <p:cNvSpPr/>
          <p:nvPr/>
        </p:nvSpPr>
        <p:spPr>
          <a:xfrm>
            <a:off x="1965960" y="1417320"/>
            <a:ext cx="1188720" cy="457200"/>
          </a:xfrm>
          <a:prstGeom prst="roundRect">
            <a:avLst>
              <a:gd name="adj" fmla="val 12000"/>
            </a:avLst>
          </a:prstGeom>
          <a:solidFill>
            <a:srgbClr val="FFFFFF"/>
          </a:solidFill>
          <a:ln w="19050">
            <a:solidFill>
              <a:srgbClr val="B85042"/>
            </a:solidFill>
            <a:prstDash val="solid"/>
          </a:ln>
        </p:spPr>
      </p:sp>
      <p:sp>
        <p:nvSpPr>
          <p:cNvPr id="18" name="Text 16"/>
          <p:cNvSpPr/>
          <p:nvPr/>
        </p:nvSpPr>
        <p:spPr>
          <a:xfrm>
            <a:off x="1965960" y="1417320"/>
            <a:ext cx="1188720" cy="457200"/>
          </a:xfrm>
          <a:prstGeom prst="rect">
            <a:avLst/>
          </a:prstGeom>
          <a:noFill/>
          <a:ln/>
        </p:spPr>
        <p:txBody>
          <a:bodyPr wrap="square" lIns="0" tIns="0" rIns="0" bIns="0" rtlCol="0" anchor="ctr"/>
          <a:lstStyle/>
          <a:p>
            <a:pPr algn="ctr" indent="0" marL="0">
              <a:buNone/>
            </a:pPr>
            <a:r>
              <a:rPr lang="en-US" sz="1000" b="1" dirty="0">
                <a:solidFill>
                  <a:srgbClr val="B85042"/>
                </a:solidFill>
                <a:latin typeface="Calibri" pitchFamily="34" charset="0"/>
                <a:ea typeface="Calibri" pitchFamily="34" charset="-122"/>
                <a:cs typeface="Calibri" pitchFamily="34" charset="-120"/>
              </a:rPr>
              <a:t>Signal · S/MIME</a:t>
            </a:r>
            <a:endParaRPr lang="en-US" sz="1000" dirty="0"/>
          </a:p>
        </p:txBody>
      </p:sp>
      <p:sp>
        <p:nvSpPr>
          <p:cNvPr id="19" name="Shape 17"/>
          <p:cNvSpPr/>
          <p:nvPr/>
        </p:nvSpPr>
        <p:spPr>
          <a:xfrm>
            <a:off x="2560320" y="1874520"/>
            <a:ext cx="0" cy="594360"/>
          </a:xfrm>
          <a:prstGeom prst="line">
            <a:avLst/>
          </a:prstGeom>
          <a:noFill/>
          <a:ln w="12700">
            <a:solidFill>
              <a:srgbClr val="D5DEEF"/>
            </a:solidFill>
            <a:prstDash val="dash"/>
          </a:ln>
        </p:spPr>
      </p:sp>
      <p:sp>
        <p:nvSpPr>
          <p:cNvPr id="20" name="Shape 18"/>
          <p:cNvSpPr/>
          <p:nvPr/>
        </p:nvSpPr>
        <p:spPr>
          <a:xfrm>
            <a:off x="3429000" y="1417320"/>
            <a:ext cx="1188720" cy="457200"/>
          </a:xfrm>
          <a:prstGeom prst="roundRect">
            <a:avLst>
              <a:gd name="adj" fmla="val 12000"/>
            </a:avLst>
          </a:prstGeom>
          <a:solidFill>
            <a:srgbClr val="FFFFFF"/>
          </a:solidFill>
          <a:ln w="19050">
            <a:solidFill>
              <a:srgbClr val="C18A3B"/>
            </a:solidFill>
            <a:prstDash val="solid"/>
          </a:ln>
        </p:spPr>
      </p:sp>
      <p:sp>
        <p:nvSpPr>
          <p:cNvPr id="21" name="Text 19"/>
          <p:cNvSpPr/>
          <p:nvPr/>
        </p:nvSpPr>
        <p:spPr>
          <a:xfrm>
            <a:off x="3429000" y="1417320"/>
            <a:ext cx="1188720" cy="457200"/>
          </a:xfrm>
          <a:prstGeom prst="rect">
            <a:avLst/>
          </a:prstGeom>
          <a:noFill/>
          <a:ln/>
        </p:spPr>
        <p:txBody>
          <a:bodyPr wrap="square" lIns="0" tIns="0" rIns="0" bIns="0" rtlCol="0" anchor="ctr"/>
          <a:lstStyle/>
          <a:p>
            <a:pPr algn="ctr" indent="0" marL="0">
              <a:buNone/>
            </a:pPr>
            <a:r>
              <a:rPr lang="en-US" sz="1000" b="1" dirty="0">
                <a:solidFill>
                  <a:srgbClr val="C18A3B"/>
                </a:solidFill>
                <a:latin typeface="Calibri" pitchFamily="34" charset="0"/>
                <a:ea typeface="Calibri" pitchFamily="34" charset="-122"/>
                <a:cs typeface="Calibri" pitchFamily="34" charset="-120"/>
              </a:rPr>
              <a:t>Edge Comp.</a:t>
            </a:r>
            <a:endParaRPr lang="en-US" sz="1000" dirty="0"/>
          </a:p>
        </p:txBody>
      </p:sp>
      <p:sp>
        <p:nvSpPr>
          <p:cNvPr id="22" name="Shape 20"/>
          <p:cNvSpPr/>
          <p:nvPr/>
        </p:nvSpPr>
        <p:spPr>
          <a:xfrm>
            <a:off x="4023360" y="1874520"/>
            <a:ext cx="0" cy="594360"/>
          </a:xfrm>
          <a:prstGeom prst="line">
            <a:avLst/>
          </a:prstGeom>
          <a:noFill/>
          <a:ln w="12700">
            <a:solidFill>
              <a:srgbClr val="D5DEEF"/>
            </a:solidFill>
            <a:prstDash val="dash"/>
          </a:ln>
        </p:spPr>
      </p:sp>
      <p:sp>
        <p:nvSpPr>
          <p:cNvPr id="23" name="Shape 21"/>
          <p:cNvSpPr/>
          <p:nvPr/>
        </p:nvSpPr>
        <p:spPr>
          <a:xfrm>
            <a:off x="4892040" y="1417320"/>
            <a:ext cx="1188720" cy="457200"/>
          </a:xfrm>
          <a:prstGeom prst="roundRect">
            <a:avLst>
              <a:gd name="adj" fmla="val 12000"/>
            </a:avLst>
          </a:prstGeom>
          <a:solidFill>
            <a:srgbClr val="FFFFFF"/>
          </a:solidFill>
          <a:ln w="19050">
            <a:solidFill>
              <a:srgbClr val="8B8B36"/>
            </a:solidFill>
            <a:prstDash val="solid"/>
          </a:ln>
        </p:spPr>
      </p:sp>
      <p:sp>
        <p:nvSpPr>
          <p:cNvPr id="24" name="Text 22"/>
          <p:cNvSpPr/>
          <p:nvPr/>
        </p:nvSpPr>
        <p:spPr>
          <a:xfrm>
            <a:off x="4892040" y="1417320"/>
            <a:ext cx="1188720" cy="457200"/>
          </a:xfrm>
          <a:prstGeom prst="rect">
            <a:avLst/>
          </a:prstGeom>
          <a:noFill/>
          <a:ln/>
        </p:spPr>
        <p:txBody>
          <a:bodyPr wrap="square" lIns="0" tIns="0" rIns="0" bIns="0" rtlCol="0" anchor="ctr"/>
          <a:lstStyle/>
          <a:p>
            <a:pPr algn="ctr" indent="0" marL="0">
              <a:buNone/>
            </a:pPr>
            <a:r>
              <a:rPr lang="en-US" sz="1000" b="1" dirty="0">
                <a:solidFill>
                  <a:srgbClr val="8B8B36"/>
                </a:solidFill>
                <a:latin typeface="Calibri" pitchFamily="34" charset="0"/>
                <a:ea typeface="Calibri" pitchFamily="34" charset="-122"/>
                <a:cs typeface="Calibri" pitchFamily="34" charset="-120"/>
              </a:rPr>
              <a:t>VANETs</a:t>
            </a:r>
            <a:endParaRPr lang="en-US" sz="1000" dirty="0"/>
          </a:p>
        </p:txBody>
      </p:sp>
      <p:sp>
        <p:nvSpPr>
          <p:cNvPr id="25" name="Shape 23"/>
          <p:cNvSpPr/>
          <p:nvPr/>
        </p:nvSpPr>
        <p:spPr>
          <a:xfrm>
            <a:off x="5486400" y="1874520"/>
            <a:ext cx="0" cy="594360"/>
          </a:xfrm>
          <a:prstGeom prst="line">
            <a:avLst/>
          </a:prstGeom>
          <a:noFill/>
          <a:ln w="12700">
            <a:solidFill>
              <a:srgbClr val="D5DEEF"/>
            </a:solidFill>
            <a:prstDash val="dash"/>
          </a:ln>
        </p:spPr>
      </p:sp>
      <p:sp>
        <p:nvSpPr>
          <p:cNvPr id="26" name="Shape 24"/>
          <p:cNvSpPr/>
          <p:nvPr/>
        </p:nvSpPr>
        <p:spPr>
          <a:xfrm>
            <a:off x="6263640" y="1417320"/>
            <a:ext cx="1188720" cy="457200"/>
          </a:xfrm>
          <a:prstGeom prst="roundRect">
            <a:avLst>
              <a:gd name="adj" fmla="val 12000"/>
            </a:avLst>
          </a:prstGeom>
          <a:solidFill>
            <a:srgbClr val="FFFFFF"/>
          </a:solidFill>
          <a:ln w="19050">
            <a:solidFill>
              <a:srgbClr val="4F8F4F"/>
            </a:solidFill>
            <a:prstDash val="solid"/>
          </a:ln>
        </p:spPr>
      </p:sp>
      <p:sp>
        <p:nvSpPr>
          <p:cNvPr id="27" name="Text 25"/>
          <p:cNvSpPr/>
          <p:nvPr/>
        </p:nvSpPr>
        <p:spPr>
          <a:xfrm>
            <a:off x="6263640" y="1417320"/>
            <a:ext cx="1188720" cy="457200"/>
          </a:xfrm>
          <a:prstGeom prst="rect">
            <a:avLst/>
          </a:prstGeom>
          <a:noFill/>
          <a:ln/>
        </p:spPr>
        <p:txBody>
          <a:bodyPr wrap="square" lIns="0" tIns="0" rIns="0" bIns="0" rtlCol="0" anchor="ctr"/>
          <a:lstStyle/>
          <a:p>
            <a:pPr algn="ctr" indent="0" marL="0">
              <a:buNone/>
            </a:pPr>
            <a:r>
              <a:rPr lang="en-US" sz="1000" b="1" dirty="0">
                <a:solidFill>
                  <a:srgbClr val="4F8F4F"/>
                </a:solidFill>
                <a:latin typeface="Calibri" pitchFamily="34" charset="0"/>
                <a:ea typeface="Calibri" pitchFamily="34" charset="-122"/>
                <a:cs typeface="Calibri" pitchFamily="34" charset="-120"/>
              </a:rPr>
              <a:t>IoMT</a:t>
            </a:r>
            <a:endParaRPr lang="en-US" sz="1000" dirty="0"/>
          </a:p>
        </p:txBody>
      </p:sp>
      <p:sp>
        <p:nvSpPr>
          <p:cNvPr id="28" name="Shape 26"/>
          <p:cNvSpPr/>
          <p:nvPr/>
        </p:nvSpPr>
        <p:spPr>
          <a:xfrm>
            <a:off x="6858000" y="1874520"/>
            <a:ext cx="0" cy="594360"/>
          </a:xfrm>
          <a:prstGeom prst="line">
            <a:avLst/>
          </a:prstGeom>
          <a:noFill/>
          <a:ln w="12700">
            <a:solidFill>
              <a:srgbClr val="D5DEEF"/>
            </a:solidFill>
            <a:prstDash val="dash"/>
          </a:ln>
        </p:spPr>
      </p:sp>
      <p:sp>
        <p:nvSpPr>
          <p:cNvPr id="29" name="Shape 27"/>
          <p:cNvSpPr/>
          <p:nvPr/>
        </p:nvSpPr>
        <p:spPr>
          <a:xfrm>
            <a:off x="7360920" y="1417320"/>
            <a:ext cx="1188720" cy="457200"/>
          </a:xfrm>
          <a:prstGeom prst="roundRect">
            <a:avLst>
              <a:gd name="adj" fmla="val 12000"/>
            </a:avLst>
          </a:prstGeom>
          <a:solidFill>
            <a:srgbClr val="FFFFFF"/>
          </a:solidFill>
          <a:ln w="19050">
            <a:solidFill>
              <a:srgbClr val="2C5F2D"/>
            </a:solidFill>
            <a:prstDash val="solid"/>
          </a:ln>
        </p:spPr>
      </p:sp>
      <p:sp>
        <p:nvSpPr>
          <p:cNvPr id="30" name="Text 28"/>
          <p:cNvSpPr/>
          <p:nvPr/>
        </p:nvSpPr>
        <p:spPr>
          <a:xfrm>
            <a:off x="7360920" y="1417320"/>
            <a:ext cx="1188720" cy="457200"/>
          </a:xfrm>
          <a:prstGeom prst="rect">
            <a:avLst/>
          </a:prstGeom>
          <a:noFill/>
          <a:ln/>
        </p:spPr>
        <p:txBody>
          <a:bodyPr wrap="square" lIns="0" tIns="0" rIns="0" bIns="0" rtlCol="0" anchor="ctr"/>
          <a:lstStyle/>
          <a:p>
            <a:pPr algn="ctr" indent="0" marL="0">
              <a:buNone/>
            </a:pPr>
            <a:r>
              <a:rPr lang="en-US" sz="1000" b="1" dirty="0">
                <a:solidFill>
                  <a:srgbClr val="2C5F2D"/>
                </a:solidFill>
                <a:latin typeface="Calibri" pitchFamily="34" charset="0"/>
                <a:ea typeface="Calibri" pitchFamily="34" charset="-122"/>
                <a:cs typeface="Calibri" pitchFamily="34" charset="-120"/>
              </a:rPr>
              <a:t>IoT sensors</a:t>
            </a:r>
            <a:endParaRPr lang="en-US" sz="1000" dirty="0"/>
          </a:p>
        </p:txBody>
      </p:sp>
      <p:sp>
        <p:nvSpPr>
          <p:cNvPr id="31" name="Shape 29"/>
          <p:cNvSpPr/>
          <p:nvPr/>
        </p:nvSpPr>
        <p:spPr>
          <a:xfrm>
            <a:off x="7955280" y="1874520"/>
            <a:ext cx="0" cy="594360"/>
          </a:xfrm>
          <a:prstGeom prst="line">
            <a:avLst/>
          </a:prstGeom>
          <a:noFill/>
          <a:ln w="12700">
            <a:solidFill>
              <a:srgbClr val="D5DEEF"/>
            </a:solidFill>
            <a:prstDash val="dash"/>
          </a:ln>
        </p:spPr>
      </p:sp>
      <p:sp>
        <p:nvSpPr>
          <p:cNvPr id="32" name="Text 30"/>
          <p:cNvSpPr/>
          <p:nvPr/>
        </p:nvSpPr>
        <p:spPr>
          <a:xfrm>
            <a:off x="731520" y="3017520"/>
            <a:ext cx="7680960" cy="274320"/>
          </a:xfrm>
          <a:prstGeom prst="rect">
            <a:avLst/>
          </a:prstGeom>
          <a:noFill/>
          <a:ln/>
        </p:spPr>
        <p:txBody>
          <a:bodyPr wrap="square"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Increasing resource constraints  →</a:t>
            </a:r>
            <a:endParaRPr lang="en-US" sz="1100" dirty="0"/>
          </a:p>
        </p:txBody>
      </p:sp>
      <p:sp>
        <p:nvSpPr>
          <p:cNvPr id="33" name="Shape 31"/>
          <p:cNvSpPr/>
          <p:nvPr/>
        </p:nvSpPr>
        <p:spPr>
          <a:xfrm>
            <a:off x="457200" y="3566160"/>
            <a:ext cx="8229600" cy="1051560"/>
          </a:xfrm>
          <a:prstGeom prst="rect">
            <a:avLst/>
          </a:prstGeom>
          <a:solidFill>
            <a:srgbClr val="F8FAFF"/>
          </a:solidFill>
          <a:ln w="12700">
            <a:solidFill>
              <a:srgbClr val="D5DEEF"/>
            </a:solidFill>
            <a:prstDash val="solid"/>
          </a:ln>
        </p:spPr>
      </p:sp>
      <p:sp>
        <p:nvSpPr>
          <p:cNvPr id="34" name="Text 32"/>
          <p:cNvSpPr/>
          <p:nvPr/>
        </p:nvSpPr>
        <p:spPr>
          <a:xfrm>
            <a:off x="640080" y="3611880"/>
            <a:ext cx="7863840" cy="96012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Adoption tracks the efficiency margin.</a:t>
            </a:r>
            <a:endParaRPr lang="en-US" sz="1300" dirty="0"/>
          </a:p>
          <a:p>
            <a:pPr indent="0" marL="0">
              <a:buNone/>
            </a:pPr>
            <a:r>
              <a:rPr lang="en-US" sz="1300" dirty="0">
                <a:solidFill>
                  <a:srgbClr val="2F3C4F"/>
                </a:solidFill>
                <a:latin typeface="Calibri" pitchFamily="34" charset="0"/>
                <a:ea typeface="Calibri" pitchFamily="34" charset="-122"/>
                <a:cs typeface="Calibri" pitchFamily="34" charset="-120"/>
              </a:rPr>
              <a:t>Where AES-NI and hardware-accelerated ECDSA run, signcryption is unnecessary.</a:t>
            </a:r>
            <a:endParaRPr lang="en-US" sz="1300" dirty="0"/>
          </a:p>
          <a:p>
            <a:pPr indent="0" marL="0">
              <a:buNone/>
            </a:pPr>
            <a:r>
              <a:rPr lang="en-US" sz="1300" dirty="0">
                <a:solidFill>
                  <a:srgbClr val="2F3C4F"/>
                </a:solidFill>
                <a:latin typeface="Calibri" pitchFamily="34" charset="0"/>
                <a:ea typeface="Calibri" pitchFamily="34" charset="-122"/>
                <a:cs typeface="Calibri" pitchFamily="34" charset="-120"/>
              </a:rPr>
              <a:t>Where every byte and joule matters — IoT, IoMT, VANETs — it becomes operationally decisive.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E2761"/>
          </a:solidFill>
          <a:ln/>
        </p:spPr>
      </p:sp>
      <p:sp>
        <p:nvSpPr>
          <p:cNvPr id="3" name="Text 1"/>
          <p:cNvSpPr/>
          <p:nvPr/>
        </p:nvSpPr>
        <p:spPr>
          <a:xfrm>
            <a:off x="274320" y="4873752"/>
            <a:ext cx="6858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 Review of Signcryption  ·  BAHATI Justin  ·  MSE 9123</a:t>
            </a:r>
            <a:endParaRPr lang="en-US" sz="900" dirty="0"/>
          </a:p>
        </p:txBody>
      </p:sp>
      <p:sp>
        <p:nvSpPr>
          <p:cNvPr id="4" name="Text 2"/>
          <p:cNvSpPr/>
          <p:nvPr/>
        </p:nvSpPr>
        <p:spPr>
          <a:xfrm>
            <a:off x="7863840" y="4873752"/>
            <a:ext cx="100584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 / 14</a:t>
            </a:r>
            <a:endParaRPr lang="en-US" sz="900" dirty="0"/>
          </a:p>
        </p:txBody>
      </p:sp>
      <p:sp>
        <p:nvSpPr>
          <p:cNvPr id="5" name="Text 3"/>
          <p:cNvSpPr/>
          <p:nvPr/>
        </p:nvSpPr>
        <p:spPr>
          <a:xfrm>
            <a:off x="320040" y="274320"/>
            <a:ext cx="8503920" cy="640080"/>
          </a:xfrm>
          <a:prstGeom prst="rect">
            <a:avLst/>
          </a:prstGeom>
          <a:noFill/>
          <a:ln/>
        </p:spPr>
        <p:txBody>
          <a:bodyPr wrap="square" lIns="0" tIns="0" rIns="0" bIns="0" rtlCol="0" anchor="ctr"/>
          <a:lstStyle/>
          <a:p>
            <a:pPr algn="l" indent="0" marL="0">
              <a:buNone/>
            </a:pPr>
            <a:r>
              <a:rPr lang="en-US" sz="2600" b="1" dirty="0">
                <a:solidFill>
                  <a:srgbClr val="1E2761"/>
                </a:solidFill>
                <a:latin typeface="Georgia" pitchFamily="34" charset="0"/>
                <a:ea typeface="Georgia" pitchFamily="34" charset="-122"/>
                <a:cs typeface="Georgia" pitchFamily="34" charset="-120"/>
              </a:rPr>
              <a:t>Research Gaps Ordered by Dependency</a:t>
            </a:r>
            <a:endParaRPr lang="en-US" sz="2600" dirty="0"/>
          </a:p>
        </p:txBody>
      </p:sp>
      <p:sp>
        <p:nvSpPr>
          <p:cNvPr id="6" name="Shape 4"/>
          <p:cNvSpPr/>
          <p:nvPr/>
        </p:nvSpPr>
        <p:spPr>
          <a:xfrm>
            <a:off x="457200" y="1097280"/>
            <a:ext cx="4023360" cy="365760"/>
          </a:xfrm>
          <a:prstGeom prst="rect">
            <a:avLst/>
          </a:prstGeom>
          <a:solidFill>
            <a:srgbClr val="B85042"/>
          </a:solidFill>
          <a:ln/>
        </p:spPr>
      </p:sp>
      <p:sp>
        <p:nvSpPr>
          <p:cNvPr id="7" name="Text 5"/>
          <p:cNvSpPr/>
          <p:nvPr/>
        </p:nvSpPr>
        <p:spPr>
          <a:xfrm>
            <a:off x="457200" y="1097280"/>
            <a:ext cx="4023360" cy="365760"/>
          </a:xfrm>
          <a:prstGeom prst="rect">
            <a:avLst/>
          </a:prstGeom>
          <a:noFill/>
          <a:ln/>
        </p:spPr>
        <p:txBody>
          <a:bodyPr wrap="square" lIns="0" tIns="0" rIns="0" bIns="0" rtlCol="0" anchor="ctr"/>
          <a:lstStyle/>
          <a:p>
            <a:pPr algn="ctr" indent="0" marL="0">
              <a:buNone/>
            </a:pPr>
            <a:r>
              <a:rPr lang="en-US" sz="1200" b="1" spc="300" kern="0" dirty="0">
                <a:solidFill>
                  <a:srgbClr val="FFFFFF"/>
                </a:solidFill>
                <a:latin typeface="Calibri" pitchFamily="34" charset="0"/>
                <a:ea typeface="Calibri" pitchFamily="34" charset="-122"/>
                <a:cs typeface="Calibri" pitchFamily="34" charset="-120"/>
              </a:rPr>
              <a:t>FOUNDATIONAL</a:t>
            </a:r>
            <a:endParaRPr lang="en-US" sz="1200" dirty="0"/>
          </a:p>
        </p:txBody>
      </p:sp>
      <p:sp>
        <p:nvSpPr>
          <p:cNvPr id="8" name="Shape 6"/>
          <p:cNvSpPr/>
          <p:nvPr/>
        </p:nvSpPr>
        <p:spPr>
          <a:xfrm>
            <a:off x="548640" y="1645920"/>
            <a:ext cx="502920" cy="502920"/>
          </a:xfrm>
          <a:prstGeom prst="ellipse">
            <a:avLst/>
          </a:prstGeom>
          <a:solidFill>
            <a:srgbClr val="B85042"/>
          </a:solidFill>
          <a:ln/>
        </p:spPr>
      </p:sp>
      <p:sp>
        <p:nvSpPr>
          <p:cNvPr id="9" name="Text 7"/>
          <p:cNvSpPr/>
          <p:nvPr/>
        </p:nvSpPr>
        <p:spPr>
          <a:xfrm>
            <a:off x="548640" y="16459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10" name="Text 8"/>
          <p:cNvSpPr/>
          <p:nvPr/>
        </p:nvSpPr>
        <p:spPr>
          <a:xfrm>
            <a:off x="1188720" y="1645920"/>
            <a:ext cx="3291840" cy="320040"/>
          </a:xfrm>
          <a:prstGeom prst="rect">
            <a:avLst/>
          </a:prstGeom>
          <a:noFill/>
          <a:ln/>
        </p:spPr>
        <p:txBody>
          <a:bodyPr wrap="square"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Post-Quantum Signcryption</a:t>
            </a:r>
            <a:endParaRPr lang="en-US" sz="1400" dirty="0"/>
          </a:p>
        </p:txBody>
      </p:sp>
      <p:sp>
        <p:nvSpPr>
          <p:cNvPr id="11" name="Text 9"/>
          <p:cNvSpPr/>
          <p:nvPr/>
        </p:nvSpPr>
        <p:spPr>
          <a:xfrm>
            <a:off x="1188720" y="1965960"/>
            <a:ext cx="3291840" cy="731520"/>
          </a:xfrm>
          <a:prstGeom prst="rect">
            <a:avLst/>
          </a:prstGeom>
          <a:noFill/>
          <a:ln/>
        </p:spPr>
        <p:txBody>
          <a:bodyPr wrap="square" rtlCol="0" anchor="t"/>
          <a:lstStyle/>
          <a:p>
            <a:pPr indent="0" marL="0">
              <a:buNone/>
            </a:pPr>
            <a:r>
              <a:rPr lang="en-US" sz="1100" dirty="0">
                <a:solidFill>
                  <a:srgbClr val="2F3C4F"/>
                </a:solidFill>
                <a:latin typeface="Calibri" pitchFamily="34" charset="0"/>
                <a:ea typeface="Calibri" pitchFamily="34" charset="-122"/>
                <a:cs typeface="Calibri" pitchFamily="34" charset="-120"/>
              </a:rPr>
              <a:t>All classical assumptions fall to Shor</a:t>
            </a:r>
            <a:endParaRPr lang="en-US" sz="1100" dirty="0"/>
          </a:p>
        </p:txBody>
      </p:sp>
      <p:sp>
        <p:nvSpPr>
          <p:cNvPr id="12" name="Shape 10"/>
          <p:cNvSpPr/>
          <p:nvPr/>
        </p:nvSpPr>
        <p:spPr>
          <a:xfrm>
            <a:off x="548640" y="2834640"/>
            <a:ext cx="502920" cy="502920"/>
          </a:xfrm>
          <a:prstGeom prst="ellipse">
            <a:avLst/>
          </a:prstGeom>
          <a:solidFill>
            <a:srgbClr val="B85042"/>
          </a:solidFill>
          <a:ln/>
        </p:spPr>
      </p:sp>
      <p:sp>
        <p:nvSpPr>
          <p:cNvPr id="13" name="Text 11"/>
          <p:cNvSpPr/>
          <p:nvPr/>
        </p:nvSpPr>
        <p:spPr>
          <a:xfrm>
            <a:off x="548640" y="28346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4" name="Text 12"/>
          <p:cNvSpPr/>
          <p:nvPr/>
        </p:nvSpPr>
        <p:spPr>
          <a:xfrm>
            <a:off x="1188720" y="2834640"/>
            <a:ext cx="3291840" cy="320040"/>
          </a:xfrm>
          <a:prstGeom prst="rect">
            <a:avLst/>
          </a:prstGeom>
          <a:noFill/>
          <a:ln/>
        </p:spPr>
        <p:txBody>
          <a:bodyPr wrap="square"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Standard-Model Proofs</a:t>
            </a:r>
            <a:endParaRPr lang="en-US" sz="1400" dirty="0"/>
          </a:p>
        </p:txBody>
      </p:sp>
      <p:sp>
        <p:nvSpPr>
          <p:cNvPr id="15" name="Text 13"/>
          <p:cNvSpPr/>
          <p:nvPr/>
        </p:nvSpPr>
        <p:spPr>
          <a:xfrm>
            <a:off x="1188720" y="3154680"/>
            <a:ext cx="3291840" cy="731520"/>
          </a:xfrm>
          <a:prstGeom prst="rect">
            <a:avLst/>
          </a:prstGeom>
          <a:noFill/>
          <a:ln/>
        </p:spPr>
        <p:txBody>
          <a:bodyPr wrap="square" rtlCol="0" anchor="t"/>
          <a:lstStyle/>
          <a:p>
            <a:pPr indent="0" marL="0">
              <a:buNone/>
            </a:pPr>
            <a:r>
              <a:rPr lang="en-US" sz="1100" dirty="0">
                <a:solidFill>
                  <a:srgbClr val="2F3C4F"/>
                </a:solidFill>
                <a:latin typeface="Calibri" pitchFamily="34" charset="0"/>
                <a:ea typeface="Calibri" pitchFamily="34" charset="-122"/>
                <a:cs typeface="Calibri" pitchFamily="34" charset="-120"/>
              </a:rPr>
              <a:t>Replace ROM reductions with real ones</a:t>
            </a:r>
            <a:endParaRPr lang="en-US" sz="1100" dirty="0"/>
          </a:p>
        </p:txBody>
      </p:sp>
      <p:sp>
        <p:nvSpPr>
          <p:cNvPr id="16" name="Shape 14"/>
          <p:cNvSpPr/>
          <p:nvPr/>
        </p:nvSpPr>
        <p:spPr>
          <a:xfrm>
            <a:off x="4663440" y="1097280"/>
            <a:ext cx="4023360" cy="365760"/>
          </a:xfrm>
          <a:prstGeom prst="rect">
            <a:avLst/>
          </a:prstGeom>
          <a:solidFill>
            <a:srgbClr val="2C5F2D"/>
          </a:solidFill>
          <a:ln/>
        </p:spPr>
      </p:sp>
      <p:sp>
        <p:nvSpPr>
          <p:cNvPr id="17" name="Text 15"/>
          <p:cNvSpPr/>
          <p:nvPr/>
        </p:nvSpPr>
        <p:spPr>
          <a:xfrm>
            <a:off x="4663440" y="1097280"/>
            <a:ext cx="4023360" cy="365760"/>
          </a:xfrm>
          <a:prstGeom prst="rect">
            <a:avLst/>
          </a:prstGeom>
          <a:noFill/>
          <a:ln/>
        </p:spPr>
        <p:txBody>
          <a:bodyPr wrap="square" lIns="0" tIns="0" rIns="0" bIns="0" rtlCol="0" anchor="ctr"/>
          <a:lstStyle/>
          <a:p>
            <a:pPr algn="ctr" indent="0" marL="0">
              <a:buNone/>
            </a:pPr>
            <a:r>
              <a:rPr lang="en-US" sz="1200" b="1" spc="300" kern="0" dirty="0">
                <a:solidFill>
                  <a:srgbClr val="FFFFFF"/>
                </a:solidFill>
                <a:latin typeface="Calibri" pitchFamily="34" charset="0"/>
                <a:ea typeface="Calibri" pitchFamily="34" charset="-122"/>
                <a:cs typeface="Calibri" pitchFamily="34" charset="-120"/>
              </a:rPr>
              <a:t>DOWNSTREAM</a:t>
            </a:r>
            <a:endParaRPr lang="en-US" sz="1200" dirty="0"/>
          </a:p>
        </p:txBody>
      </p:sp>
      <p:sp>
        <p:nvSpPr>
          <p:cNvPr id="18" name="Text 16"/>
          <p:cNvSpPr/>
          <p:nvPr/>
        </p:nvSpPr>
        <p:spPr>
          <a:xfrm>
            <a:off x="4754880" y="1645920"/>
            <a:ext cx="3931920" cy="457200"/>
          </a:xfrm>
          <a:prstGeom prst="rect">
            <a:avLst/>
          </a:prstGeom>
          <a:noFill/>
          <a:ln/>
        </p:spPr>
        <p:txBody>
          <a:bodyPr wrap="square" rtlCol="0" anchor="ctr"/>
          <a:lstStyle/>
          <a:p>
            <a:pPr indent="0" marL="0">
              <a:buNone/>
            </a:pPr>
            <a:r>
              <a:rPr lang="en-US" sz="1100" b="1" dirty="0">
                <a:solidFill>
                  <a:srgbClr val="2C5F2D"/>
                </a:solidFill>
                <a:latin typeface="Calibri" pitchFamily="34" charset="0"/>
                <a:ea typeface="Calibri" pitchFamily="34" charset="-122"/>
                <a:cs typeface="Calibri" pitchFamily="34" charset="-120"/>
              </a:rPr>
              <a:t>3.</a:t>
            </a:r>
            <a:pPr indent="0" marL="0">
              <a:buNone/>
            </a:pPr>
            <a:r>
              <a:rPr lang="en-US" sz="1100" b="1" dirty="0">
                <a:solidFill>
                  <a:srgbClr val="1E2761"/>
                </a:solidFill>
                <a:latin typeface="Calibri" pitchFamily="34" charset="0"/>
                <a:ea typeface="Calibri" pitchFamily="34" charset="-122"/>
                <a:cs typeface="Calibri" pitchFamily="34" charset="-120"/>
              </a:rPr>
              <a:t>  Library Implementations  —  </a:t>
            </a:r>
            <a:pPr indent="0" marL="0">
              <a:buNone/>
            </a:pPr>
            <a:r>
              <a:rPr lang="en-US" sz="1100" dirty="0">
                <a:solidFill>
                  <a:srgbClr val="2F3C4F"/>
                </a:solidFill>
                <a:latin typeface="Calibri" pitchFamily="34" charset="0"/>
                <a:ea typeface="Calibri" pitchFamily="34" charset="-122"/>
                <a:cs typeface="Calibri" pitchFamily="34" charset="-120"/>
              </a:rPr>
              <a:t>Conforming ISO/IEC 29150 reference</a:t>
            </a:r>
            <a:endParaRPr lang="en-US" sz="1100" dirty="0"/>
          </a:p>
        </p:txBody>
      </p:sp>
      <p:sp>
        <p:nvSpPr>
          <p:cNvPr id="19" name="Text 17"/>
          <p:cNvSpPr/>
          <p:nvPr/>
        </p:nvSpPr>
        <p:spPr>
          <a:xfrm>
            <a:off x="4754880" y="2194560"/>
            <a:ext cx="3931920" cy="457200"/>
          </a:xfrm>
          <a:prstGeom prst="rect">
            <a:avLst/>
          </a:prstGeom>
          <a:noFill/>
          <a:ln/>
        </p:spPr>
        <p:txBody>
          <a:bodyPr wrap="square" rtlCol="0" anchor="ctr"/>
          <a:lstStyle/>
          <a:p>
            <a:pPr indent="0" marL="0">
              <a:buNone/>
            </a:pPr>
            <a:r>
              <a:rPr lang="en-US" sz="1100" b="1" dirty="0">
                <a:solidFill>
                  <a:srgbClr val="2C5F2D"/>
                </a:solidFill>
                <a:latin typeface="Calibri" pitchFamily="34" charset="0"/>
                <a:ea typeface="Calibri" pitchFamily="34" charset="-122"/>
                <a:cs typeface="Calibri" pitchFamily="34" charset="-120"/>
              </a:rPr>
              <a:t>4.</a:t>
            </a:r>
            <a:pPr indent="0" marL="0">
              <a:buNone/>
            </a:pPr>
            <a:r>
              <a:rPr lang="en-US" sz="1100" b="1" dirty="0">
                <a:solidFill>
                  <a:srgbClr val="1E2761"/>
                </a:solidFill>
                <a:latin typeface="Calibri" pitchFamily="34" charset="0"/>
                <a:ea typeface="Calibri" pitchFamily="34" charset="-122"/>
                <a:cs typeface="Calibri" pitchFamily="34" charset="-120"/>
              </a:rPr>
              <a:t>  Protocol Integration  —  </a:t>
            </a:r>
            <a:pPr indent="0" marL="0">
              <a:buNone/>
            </a:pPr>
            <a:r>
              <a:rPr lang="en-US" sz="1100" dirty="0">
                <a:solidFill>
                  <a:srgbClr val="2F3C4F"/>
                </a:solidFill>
                <a:latin typeface="Calibri" pitchFamily="34" charset="0"/>
                <a:ea typeface="Calibri" pitchFamily="34" charset="-122"/>
                <a:cs typeface="Calibri" pitchFamily="34" charset="-120"/>
              </a:rPr>
              <a:t>TLS, DTLS, CoAP cipher suites</a:t>
            </a:r>
            <a:endParaRPr lang="en-US" sz="1100" dirty="0"/>
          </a:p>
        </p:txBody>
      </p:sp>
      <p:sp>
        <p:nvSpPr>
          <p:cNvPr id="20" name="Text 18"/>
          <p:cNvSpPr/>
          <p:nvPr/>
        </p:nvSpPr>
        <p:spPr>
          <a:xfrm>
            <a:off x="4754880" y="2743200"/>
            <a:ext cx="3931920" cy="457200"/>
          </a:xfrm>
          <a:prstGeom prst="rect">
            <a:avLst/>
          </a:prstGeom>
          <a:noFill/>
          <a:ln/>
        </p:spPr>
        <p:txBody>
          <a:bodyPr wrap="square" rtlCol="0" anchor="ctr"/>
          <a:lstStyle/>
          <a:p>
            <a:pPr indent="0" marL="0">
              <a:buNone/>
            </a:pPr>
            <a:r>
              <a:rPr lang="en-US" sz="1100" b="1" dirty="0">
                <a:solidFill>
                  <a:srgbClr val="2C5F2D"/>
                </a:solidFill>
                <a:latin typeface="Calibri" pitchFamily="34" charset="0"/>
                <a:ea typeface="Calibri" pitchFamily="34" charset="-122"/>
                <a:cs typeface="Calibri" pitchFamily="34" charset="-120"/>
              </a:rPr>
              <a:t>5.</a:t>
            </a:r>
            <a:pPr indent="0" marL="0">
              <a:buNone/>
            </a:pPr>
            <a:r>
              <a:rPr lang="en-US" sz="1100" b="1" dirty="0">
                <a:solidFill>
                  <a:srgbClr val="1E2761"/>
                </a:solidFill>
                <a:latin typeface="Calibri" pitchFamily="34" charset="0"/>
                <a:ea typeface="Calibri" pitchFamily="34" charset="-122"/>
                <a:cs typeface="Calibri" pitchFamily="34" charset="-120"/>
              </a:rPr>
              <a:t>  Lightweight IoT Builds  —  </a:t>
            </a:r>
            <a:pPr indent="0" marL="0">
              <a:buNone/>
            </a:pPr>
            <a:r>
              <a:rPr lang="en-US" sz="1100" dirty="0">
                <a:solidFill>
                  <a:srgbClr val="2F3C4F"/>
                </a:solidFill>
                <a:latin typeface="Calibri" pitchFamily="34" charset="0"/>
                <a:ea typeface="Calibri" pitchFamily="34" charset="-122"/>
                <a:cs typeface="Calibri" pitchFamily="34" charset="-120"/>
              </a:rPr>
              <a:t>Side-channel-resistant MCU code</a:t>
            </a:r>
            <a:endParaRPr lang="en-US" sz="1100" dirty="0"/>
          </a:p>
        </p:txBody>
      </p:sp>
      <p:sp>
        <p:nvSpPr>
          <p:cNvPr id="21" name="Text 19"/>
          <p:cNvSpPr/>
          <p:nvPr/>
        </p:nvSpPr>
        <p:spPr>
          <a:xfrm>
            <a:off x="4754880" y="3291840"/>
            <a:ext cx="3931920" cy="457200"/>
          </a:xfrm>
          <a:prstGeom prst="rect">
            <a:avLst/>
          </a:prstGeom>
          <a:noFill/>
          <a:ln/>
        </p:spPr>
        <p:txBody>
          <a:bodyPr wrap="square" rtlCol="0" anchor="ctr"/>
          <a:lstStyle/>
          <a:p>
            <a:pPr indent="0" marL="0">
              <a:buNone/>
            </a:pPr>
            <a:r>
              <a:rPr lang="en-US" sz="1100" b="1" dirty="0">
                <a:solidFill>
                  <a:srgbClr val="2C5F2D"/>
                </a:solidFill>
                <a:latin typeface="Calibri" pitchFamily="34" charset="0"/>
                <a:ea typeface="Calibri" pitchFamily="34" charset="-122"/>
                <a:cs typeface="Calibri" pitchFamily="34" charset="-120"/>
              </a:rPr>
              <a:t>6.</a:t>
            </a:r>
            <a:pPr indent="0" marL="0">
              <a:buNone/>
            </a:pPr>
            <a:r>
              <a:rPr lang="en-US" sz="1100" b="1" dirty="0">
                <a:solidFill>
                  <a:srgbClr val="1E2761"/>
                </a:solidFill>
                <a:latin typeface="Calibri" pitchFamily="34" charset="0"/>
                <a:ea typeface="Calibri" pitchFamily="34" charset="-122"/>
                <a:cs typeface="Calibri" pitchFamily="34" charset="-120"/>
              </a:rPr>
              <a:t>  Key Escrow (CLC)  —  </a:t>
            </a:r>
            <a:pPr indent="0" marL="0">
              <a:buNone/>
            </a:pPr>
            <a:r>
              <a:rPr lang="en-US" sz="1100" dirty="0">
                <a:solidFill>
                  <a:srgbClr val="2F3C4F"/>
                </a:solidFill>
                <a:latin typeface="Calibri" pitchFamily="34" charset="0"/>
                <a:ea typeface="Calibri" pitchFamily="34" charset="-122"/>
                <a:cs typeface="Calibri" pitchFamily="34" charset="-120"/>
              </a:rPr>
              <a:t>Certificateless variants, pairing-free</a:t>
            </a:r>
            <a:endParaRPr lang="en-US" sz="1100" dirty="0"/>
          </a:p>
        </p:txBody>
      </p:sp>
      <p:sp>
        <p:nvSpPr>
          <p:cNvPr id="22" name="Text 20"/>
          <p:cNvSpPr/>
          <p:nvPr/>
        </p:nvSpPr>
        <p:spPr>
          <a:xfrm>
            <a:off x="4754880" y="3840480"/>
            <a:ext cx="3931920" cy="457200"/>
          </a:xfrm>
          <a:prstGeom prst="rect">
            <a:avLst/>
          </a:prstGeom>
          <a:noFill/>
          <a:ln/>
        </p:spPr>
        <p:txBody>
          <a:bodyPr wrap="square" rtlCol="0" anchor="ctr"/>
          <a:lstStyle/>
          <a:p>
            <a:pPr indent="0" marL="0">
              <a:buNone/>
            </a:pPr>
            <a:r>
              <a:rPr lang="en-US" sz="1100" b="1" dirty="0">
                <a:solidFill>
                  <a:srgbClr val="2C5F2D"/>
                </a:solidFill>
                <a:latin typeface="Calibri" pitchFamily="34" charset="0"/>
                <a:ea typeface="Calibri" pitchFamily="34" charset="-122"/>
                <a:cs typeface="Calibri" pitchFamily="34" charset="-120"/>
              </a:rPr>
              <a:t>7.</a:t>
            </a:r>
            <a:pPr indent="0" marL="0">
              <a:buNone/>
            </a:pPr>
            <a:r>
              <a:rPr lang="en-US" sz="1100" b="1" dirty="0">
                <a:solidFill>
                  <a:srgbClr val="1E2761"/>
                </a:solidFill>
                <a:latin typeface="Calibri" pitchFamily="34" charset="0"/>
                <a:ea typeface="Calibri" pitchFamily="34" charset="-122"/>
                <a:cs typeface="Calibri" pitchFamily="34" charset="-120"/>
              </a:rPr>
              <a:t>  Multi-Receiver Scale  —  </a:t>
            </a:r>
            <a:pPr indent="0" marL="0">
              <a:buNone/>
            </a:pPr>
            <a:r>
              <a:rPr lang="en-US" sz="1100" dirty="0">
                <a:solidFill>
                  <a:srgbClr val="2F3C4F"/>
                </a:solidFill>
                <a:latin typeface="Calibri" pitchFamily="34" charset="0"/>
                <a:ea typeface="Calibri" pitchFamily="34" charset="-122"/>
                <a:cs typeface="Calibri" pitchFamily="34" charset="-120"/>
              </a:rPr>
              <a:t>Broadcast with PQ ciphertext sizes</a:t>
            </a:r>
            <a:endParaRPr lang="en-US" sz="1100" dirty="0"/>
          </a:p>
        </p:txBody>
      </p:sp>
      <p:sp>
        <p:nvSpPr>
          <p:cNvPr id="23" name="Shape 21"/>
          <p:cNvSpPr/>
          <p:nvPr/>
        </p:nvSpPr>
        <p:spPr>
          <a:xfrm>
            <a:off x="457200" y="4297680"/>
            <a:ext cx="8229600" cy="365760"/>
          </a:xfrm>
          <a:prstGeom prst="rect">
            <a:avLst/>
          </a:prstGeom>
          <a:solidFill>
            <a:srgbClr val="F3ECD2"/>
          </a:solidFill>
          <a:ln w="12700">
            <a:solidFill>
              <a:srgbClr val="D4A017"/>
            </a:solidFill>
            <a:prstDash val="solid"/>
          </a:ln>
        </p:spPr>
      </p:sp>
      <p:sp>
        <p:nvSpPr>
          <p:cNvPr id="24" name="Text 22"/>
          <p:cNvSpPr/>
          <p:nvPr/>
        </p:nvSpPr>
        <p:spPr>
          <a:xfrm>
            <a:off x="640080" y="4297680"/>
            <a:ext cx="7863840" cy="365760"/>
          </a:xfrm>
          <a:prstGeom prst="rect">
            <a:avLst/>
          </a:prstGeom>
          <a:noFill/>
          <a:ln/>
        </p:spPr>
        <p:txBody>
          <a:bodyPr wrap="square" lIns="0" tIns="0" rIns="0" bIns="0" rtlCol="0" anchor="ctr"/>
          <a:lstStyle/>
          <a:p>
            <a:pPr algn="ctr" indent="0" marL="0">
              <a:buNone/>
            </a:pPr>
            <a:r>
              <a:rPr lang="en-US" sz="1200" i="1" dirty="0">
                <a:solidFill>
                  <a:srgbClr val="1E2761"/>
                </a:solidFill>
                <a:latin typeface="Calibri" pitchFamily="34" charset="0"/>
                <a:ea typeface="Calibri" pitchFamily="34" charset="-122"/>
                <a:cs typeface="Calibri" pitchFamily="34" charset="-120"/>
              </a:rPr>
              <a:t>Foundational challenges (1–2) block progress on everything downstream.</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Conclusion</a:t>
            </a:r>
            <a:endParaRPr lang="en-US" sz="4000" dirty="0"/>
          </a:p>
        </p:txBody>
      </p:sp>
      <p:sp>
        <p:nvSpPr>
          <p:cNvPr id="3" name="Shape 1"/>
          <p:cNvSpPr/>
          <p:nvPr/>
        </p:nvSpPr>
        <p:spPr>
          <a:xfrm>
            <a:off x="457200" y="1280160"/>
            <a:ext cx="640080" cy="27432"/>
          </a:xfrm>
          <a:prstGeom prst="rect">
            <a:avLst/>
          </a:prstGeom>
          <a:solidFill>
            <a:srgbClr val="CADCFC"/>
          </a:solidFill>
          <a:ln/>
        </p:spPr>
      </p:sp>
      <p:sp>
        <p:nvSpPr>
          <p:cNvPr id="4" name="Text 2"/>
          <p:cNvSpPr/>
          <p:nvPr/>
        </p:nvSpPr>
        <p:spPr>
          <a:xfrm>
            <a:off x="457200" y="1554480"/>
            <a:ext cx="914400" cy="640080"/>
          </a:xfrm>
          <a:prstGeom prst="rect">
            <a:avLst/>
          </a:prstGeom>
          <a:noFill/>
          <a:ln/>
        </p:spPr>
        <p:txBody>
          <a:bodyPr wrap="square" rtlCol="0" anchor="t"/>
          <a:lstStyle/>
          <a:p>
            <a:pPr indent="0" marL="0">
              <a:buNone/>
            </a:pPr>
            <a:r>
              <a:rPr lang="en-US" sz="4000" b="1" dirty="0">
                <a:solidFill>
                  <a:srgbClr val="D4A017"/>
                </a:solidFill>
                <a:latin typeface="Georgia" pitchFamily="34" charset="0"/>
                <a:ea typeface="Georgia" pitchFamily="34" charset="-122"/>
                <a:cs typeface="Georgia" pitchFamily="34" charset="-120"/>
              </a:rPr>
              <a:t>01</a:t>
            </a:r>
            <a:endParaRPr lang="en-US" sz="4000" dirty="0"/>
          </a:p>
        </p:txBody>
      </p:sp>
      <p:sp>
        <p:nvSpPr>
          <p:cNvPr id="5" name="Text 3"/>
          <p:cNvSpPr/>
          <p:nvPr/>
        </p:nvSpPr>
        <p:spPr>
          <a:xfrm>
            <a:off x="1463040" y="1572768"/>
            <a:ext cx="7315200" cy="365760"/>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Theoretically mature.</a:t>
            </a:r>
            <a:endParaRPr lang="en-US" sz="1800" dirty="0"/>
          </a:p>
        </p:txBody>
      </p:sp>
      <p:sp>
        <p:nvSpPr>
          <p:cNvPr id="6" name="Text 4"/>
          <p:cNvSpPr/>
          <p:nvPr/>
        </p:nvSpPr>
        <p:spPr>
          <a:xfrm>
            <a:off x="1463040" y="1965960"/>
            <a:ext cx="7315200" cy="45720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Formal proofs, identity-based variants, ISO standardization — all in place.</a:t>
            </a:r>
            <a:endParaRPr lang="en-US" sz="1300" dirty="0"/>
          </a:p>
        </p:txBody>
      </p:sp>
      <p:sp>
        <p:nvSpPr>
          <p:cNvPr id="7" name="Text 5"/>
          <p:cNvSpPr/>
          <p:nvPr/>
        </p:nvSpPr>
        <p:spPr>
          <a:xfrm>
            <a:off x="457200" y="2514600"/>
            <a:ext cx="914400" cy="640080"/>
          </a:xfrm>
          <a:prstGeom prst="rect">
            <a:avLst/>
          </a:prstGeom>
          <a:noFill/>
          <a:ln/>
        </p:spPr>
        <p:txBody>
          <a:bodyPr wrap="square" rtlCol="0" anchor="t"/>
          <a:lstStyle/>
          <a:p>
            <a:pPr indent="0" marL="0">
              <a:buNone/>
            </a:pPr>
            <a:r>
              <a:rPr lang="en-US" sz="4000" b="1" dirty="0">
                <a:solidFill>
                  <a:srgbClr val="D4A017"/>
                </a:solidFill>
                <a:latin typeface="Georgia" pitchFamily="34" charset="0"/>
                <a:ea typeface="Georgia" pitchFamily="34" charset="-122"/>
                <a:cs typeface="Georgia" pitchFamily="34" charset="-120"/>
              </a:rPr>
              <a:t>02</a:t>
            </a:r>
            <a:endParaRPr lang="en-US" sz="4000" dirty="0"/>
          </a:p>
        </p:txBody>
      </p:sp>
      <p:sp>
        <p:nvSpPr>
          <p:cNvPr id="8" name="Text 6"/>
          <p:cNvSpPr/>
          <p:nvPr/>
        </p:nvSpPr>
        <p:spPr>
          <a:xfrm>
            <a:off x="1463040" y="2532888"/>
            <a:ext cx="7315200" cy="365760"/>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Practically absent from mainstream.</a:t>
            </a:r>
            <a:endParaRPr lang="en-US" sz="1800" dirty="0"/>
          </a:p>
        </p:txBody>
      </p:sp>
      <p:sp>
        <p:nvSpPr>
          <p:cNvPr id="9" name="Text 7"/>
          <p:cNvSpPr/>
          <p:nvPr/>
        </p:nvSpPr>
        <p:spPr>
          <a:xfrm>
            <a:off x="1463040" y="2926080"/>
            <a:ext cx="7315200" cy="45720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Not in OpenSSL, not in TLS. AEAD + ECDH ate the efficiency advantage.</a:t>
            </a:r>
            <a:endParaRPr lang="en-US" sz="1300" dirty="0"/>
          </a:p>
        </p:txBody>
      </p:sp>
      <p:sp>
        <p:nvSpPr>
          <p:cNvPr id="10" name="Text 8"/>
          <p:cNvSpPr/>
          <p:nvPr/>
        </p:nvSpPr>
        <p:spPr>
          <a:xfrm>
            <a:off x="457200" y="3474720"/>
            <a:ext cx="914400" cy="640080"/>
          </a:xfrm>
          <a:prstGeom prst="rect">
            <a:avLst/>
          </a:prstGeom>
          <a:noFill/>
          <a:ln/>
        </p:spPr>
        <p:txBody>
          <a:bodyPr wrap="square" rtlCol="0" anchor="t"/>
          <a:lstStyle/>
          <a:p>
            <a:pPr indent="0" marL="0">
              <a:buNone/>
            </a:pPr>
            <a:r>
              <a:rPr lang="en-US" sz="4000" b="1" dirty="0">
                <a:solidFill>
                  <a:srgbClr val="D4A017"/>
                </a:solidFill>
                <a:latin typeface="Georgia" pitchFamily="34" charset="0"/>
                <a:ea typeface="Georgia" pitchFamily="34" charset="-122"/>
                <a:cs typeface="Georgia" pitchFamily="34" charset="-120"/>
              </a:rPr>
              <a:t>03</a:t>
            </a:r>
            <a:endParaRPr lang="en-US" sz="4000" dirty="0"/>
          </a:p>
        </p:txBody>
      </p:sp>
      <p:sp>
        <p:nvSpPr>
          <p:cNvPr id="11" name="Text 9"/>
          <p:cNvSpPr/>
          <p:nvPr/>
        </p:nvSpPr>
        <p:spPr>
          <a:xfrm>
            <a:off x="1463040" y="3493008"/>
            <a:ext cx="7315200" cy="365760"/>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Bridging the gap.</a:t>
            </a:r>
            <a:endParaRPr lang="en-US" sz="1800" dirty="0"/>
          </a:p>
        </p:txBody>
      </p:sp>
      <p:sp>
        <p:nvSpPr>
          <p:cNvPr id="12" name="Text 10"/>
          <p:cNvSpPr/>
          <p:nvPr/>
        </p:nvSpPr>
        <p:spPr>
          <a:xfrm>
            <a:off x="1463040" y="3886200"/>
            <a:ext cx="7315200" cy="45720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Post-quantum constructions, standard-model proofs, reference libraries.</a:t>
            </a:r>
            <a:endParaRPr lang="en-US" sz="1300" dirty="0"/>
          </a:p>
        </p:txBody>
      </p:sp>
      <p:sp>
        <p:nvSpPr>
          <p:cNvPr id="13" name="Shape 11"/>
          <p:cNvSpPr/>
          <p:nvPr/>
        </p:nvSpPr>
        <p:spPr>
          <a:xfrm>
            <a:off x="457200" y="4572000"/>
            <a:ext cx="8229600" cy="0"/>
          </a:xfrm>
          <a:prstGeom prst="line">
            <a:avLst/>
          </a:prstGeom>
          <a:noFill/>
          <a:ln w="6350">
            <a:solidFill>
              <a:srgbClr val="CADCFC"/>
            </a:solidFill>
            <a:prstDash val="solid"/>
          </a:ln>
        </p:spPr>
      </p:sp>
      <p:sp>
        <p:nvSpPr>
          <p:cNvPr id="14" name="Text 12"/>
          <p:cNvSpPr/>
          <p:nvPr/>
        </p:nvSpPr>
        <p:spPr>
          <a:xfrm>
            <a:off x="457200" y="4709160"/>
            <a:ext cx="8229600" cy="320040"/>
          </a:xfrm>
          <a:prstGeom prst="rect">
            <a:avLst/>
          </a:prstGeom>
          <a:noFill/>
          <a:ln/>
        </p:spPr>
        <p:txBody>
          <a:bodyPr wrap="square" rtlCol="0" anchor="ctr"/>
          <a:lstStyle/>
          <a:p>
            <a:pPr algn="ctr" indent="0" marL="0">
              <a:buNone/>
            </a:pPr>
            <a:r>
              <a:rPr lang="en-US" sz="1400" i="1" dirty="0">
                <a:solidFill>
                  <a:srgbClr val="CADCFC"/>
                </a:solidFill>
                <a:latin typeface="Georgia" pitchFamily="34" charset="0"/>
                <a:ea typeface="Georgia" pitchFamily="34" charset="-122"/>
                <a:cs typeface="Georgia" pitchFamily="34" charset="-120"/>
              </a:rPr>
              <a:t>Thank you  ·  Questions?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Review of Signcryption</dc:title>
  <dc:subject>MSE Information and Network Security</dc:subject>
  <dc:creator>BAHATI Justin</dc:creator>
  <cp:lastModifiedBy>BAHATI Justin</cp:lastModifiedBy>
  <cp:revision>1</cp:revision>
  <dcterms:created xsi:type="dcterms:W3CDTF">2026-04-19T05:50:35Z</dcterms:created>
  <dcterms:modified xsi:type="dcterms:W3CDTF">2026-04-19T05:50:35Z</dcterms:modified>
</cp:coreProperties>
</file>